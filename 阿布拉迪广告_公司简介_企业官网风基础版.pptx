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adac89bc6f49de" /><Relationship Type="http://schemas.openxmlformats.org/officeDocument/2006/relationships/extended-properties" Target="/docProps/app.xml" Id="R3c9db7026b6e42f0" /><Relationship Type="http://schemas.openxmlformats.org/officeDocument/2006/relationships/officeDocument" Target="/ppt/presentation.xml" Id="Rd09edc6aae6c40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b374656b0d42b9"/>
  </p:sldMasterIdLst>
  <p:notesMasterIdLst>
    <p:notesMasterId xmlns:r="http://schemas.openxmlformats.org/officeDocument/2006/relationships" r:id="R1754e395029f4912"/>
  </p:notesMasterIdLst>
  <p:sldIdLst>
    <p:sldId xmlns:r="http://schemas.openxmlformats.org/officeDocument/2006/relationships" id="256" r:id="R80182e86db5b45a0"/>
    <p:sldId xmlns:r="http://schemas.openxmlformats.org/officeDocument/2006/relationships" id="257" r:id="Rbb7c999725e34660"/>
    <p:sldId xmlns:r="http://schemas.openxmlformats.org/officeDocument/2006/relationships" id="258" r:id="R4ba42d653b2443db"/>
    <p:sldId xmlns:r="http://schemas.openxmlformats.org/officeDocument/2006/relationships" id="259" r:id="Rb9396e1899f540bc"/>
    <p:sldId xmlns:r="http://schemas.openxmlformats.org/officeDocument/2006/relationships" id="260" r:id="R27e190e8428d4140"/>
    <p:sldId xmlns:r="http://schemas.openxmlformats.org/officeDocument/2006/relationships" id="261" r:id="R5c687e4cf8014700"/>
    <p:sldId xmlns:r="http://schemas.openxmlformats.org/officeDocument/2006/relationships" id="262" r:id="R10d58dc8b19f444b"/>
    <p:sldId xmlns:r="http://schemas.openxmlformats.org/officeDocument/2006/relationships" id="263" r:id="R9d1d2f05161a4723"/>
    <p:sldId xmlns:r="http://schemas.openxmlformats.org/officeDocument/2006/relationships" id="264" r:id="R231a0900b011427c"/>
    <p:sldId xmlns:r="http://schemas.openxmlformats.org/officeDocument/2006/relationships" id="265" r:id="Rbc7efc04e10c4ee0"/>
    <p:sldId xmlns:r="http://schemas.openxmlformats.org/officeDocument/2006/relationships" id="266" r:id="Rd99f46852db34c75"/>
    <p:sldId xmlns:r="http://schemas.openxmlformats.org/officeDocument/2006/relationships" id="267" r:id="Re81b29e911de4a13"/>
    <p:sldId xmlns:r="http://schemas.openxmlformats.org/officeDocument/2006/relationships" id="268" r:id="R4d4c48f1de184f0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78a1f957f944d2f" /><Relationship Type="http://schemas.openxmlformats.org/officeDocument/2006/relationships/slideMaster" Target="/ppt/slideMasters/slideMaster1.xml" Id="Rfeb374656b0d42b9" /><Relationship Type="http://schemas.openxmlformats.org/officeDocument/2006/relationships/notesMaster" Target="/ppt/notesMasters/notesMaster1.xml" Id="R1754e395029f4912" /><Relationship Type="http://schemas.openxmlformats.org/officeDocument/2006/relationships/presProps" Target="/ppt/presProps.xml" Id="R1414f1adbb2847b3" /><Relationship Type="http://schemas.openxmlformats.org/officeDocument/2006/relationships/tableStyles" Target="/ppt/tableStyles.xml" Id="R9a970e9dad8d46a2" /><Relationship Type="http://schemas.openxmlformats.org/officeDocument/2006/relationships/slide" Target="/ppt/slides/slide1.xml" Id="R80182e86db5b45a0" /><Relationship Type="http://schemas.openxmlformats.org/officeDocument/2006/relationships/slide" Target="/ppt/slides/slide2.xml" Id="Rbb7c999725e34660" /><Relationship Type="http://schemas.openxmlformats.org/officeDocument/2006/relationships/slide" Target="/ppt/slides/slide3.xml" Id="R4ba42d653b2443db" /><Relationship Type="http://schemas.openxmlformats.org/officeDocument/2006/relationships/slide" Target="/ppt/slides/slide4.xml" Id="Rb9396e1899f540bc" /><Relationship Type="http://schemas.openxmlformats.org/officeDocument/2006/relationships/slide" Target="/ppt/slides/slide5.xml" Id="R27e190e8428d4140" /><Relationship Type="http://schemas.openxmlformats.org/officeDocument/2006/relationships/slide" Target="/ppt/slides/slide6.xml" Id="R5c687e4cf8014700" /><Relationship Type="http://schemas.openxmlformats.org/officeDocument/2006/relationships/slide" Target="/ppt/slides/slide7.xml" Id="R10d58dc8b19f444b" /><Relationship Type="http://schemas.openxmlformats.org/officeDocument/2006/relationships/slide" Target="/ppt/slides/slide8.xml" Id="R9d1d2f05161a4723" /><Relationship Type="http://schemas.openxmlformats.org/officeDocument/2006/relationships/slide" Target="/ppt/slides/slide9.xml" Id="R231a0900b011427c" /><Relationship Type="http://schemas.openxmlformats.org/officeDocument/2006/relationships/slide" Target="/ppt/slides/slide10.xml" Id="Rbc7efc04e10c4ee0" /><Relationship Type="http://schemas.openxmlformats.org/officeDocument/2006/relationships/slide" Target="/ppt/slides/slide11.xml" Id="Rd99f46852db34c75" /><Relationship Type="http://schemas.openxmlformats.org/officeDocument/2006/relationships/slide" Target="/ppt/slides/slide12.xml" Id="Re81b29e911de4a13" /><Relationship Type="http://schemas.openxmlformats.org/officeDocument/2006/relationships/slide" Target="/ppt/slides/slide13.xml" Id="R4d4c48f1de184f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5a923154f4648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cd7ad1e8a541e6" /><Relationship Type="http://schemas.openxmlformats.org/officeDocument/2006/relationships/notesMaster" Target="/ppt/notesMasters/notesMaster1.xml" Id="R6189fbfccfe44ba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75ac67da39d40fa" /><Relationship Type="http://schemas.openxmlformats.org/officeDocument/2006/relationships/notesMaster" Target="/ppt/notesMasters/notesMaster1.xml" Id="R84b6249251bd4fc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081e40425954c10" /><Relationship Type="http://schemas.openxmlformats.org/officeDocument/2006/relationships/notesMaster" Target="/ppt/notesMasters/notesMaster1.xml" Id="R5c41a559e42847c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1c50f62f7224630" /><Relationship Type="http://schemas.openxmlformats.org/officeDocument/2006/relationships/notesMaster" Target="/ppt/notesMasters/notesMaster1.xml" Id="R69bf85b60928421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45fd41920124a12" /><Relationship Type="http://schemas.openxmlformats.org/officeDocument/2006/relationships/notesMaster" Target="/ppt/notesMasters/notesMaster1.xml" Id="R84ab1efd45ef472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ccc1b19f4444f17" /><Relationship Type="http://schemas.openxmlformats.org/officeDocument/2006/relationships/notesMaster" Target="/ppt/notesMasters/notesMaster1.xml" Id="R08461471dbec494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dbdf7a375f544d6" /><Relationship Type="http://schemas.openxmlformats.org/officeDocument/2006/relationships/notesMaster" Target="/ppt/notesMasters/notesMaster1.xml" Id="R4a84370b491d4f1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ad42217eed74d72" /><Relationship Type="http://schemas.openxmlformats.org/officeDocument/2006/relationships/notesMaster" Target="/ppt/notesMasters/notesMaster1.xml" Id="R1fae8acd335349e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34472bb8b2b472a" /><Relationship Type="http://schemas.openxmlformats.org/officeDocument/2006/relationships/notesMaster" Target="/ppt/notesMasters/notesMaster1.xml" Id="R200619a911974e4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59047d592204c79" /><Relationship Type="http://schemas.openxmlformats.org/officeDocument/2006/relationships/notesMaster" Target="/ppt/notesMasters/notesMaster1.xml" Id="R7c905b1279fc4d1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9a1f1b8d67543a3" /><Relationship Type="http://schemas.openxmlformats.org/officeDocument/2006/relationships/notesMaster" Target="/ppt/notesMasters/notesMaster1.xml" Id="R650fcc46c3534af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6f4c56491494dfb" /><Relationship Type="http://schemas.openxmlformats.org/officeDocument/2006/relationships/notesMaster" Target="/ppt/notesMasters/notesMaster1.xml" Id="R818be46fb5cc43b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52b5770d68541eb" /><Relationship Type="http://schemas.openxmlformats.org/officeDocument/2006/relationships/notesMaster" Target="/ppt/notesMasters/notesMaster1.xml" Id="Rcc0f74327496468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9d31a776b14c8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f20f77f191e4b65" /><Relationship Type="http://schemas.openxmlformats.org/officeDocument/2006/relationships/slideLayout" Target="/ppt/slideLayouts/slideLayout1.xml" Id="Ra5bfbae38f144dd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5bfbae38f144dd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0652d8db88472b" /><Relationship Type="http://schemas.openxmlformats.org/officeDocument/2006/relationships/image" Target="/ppt/media/image.jpeg" Id="R804893bf72b54692" /><Relationship Type="http://schemas.openxmlformats.org/officeDocument/2006/relationships/notesSlide" Target="/ppt/notesSlides/notesSlide1.xml" Id="Ra63112a9e28544d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30769d5292471f" /><Relationship Type="http://schemas.openxmlformats.org/officeDocument/2006/relationships/notesSlide" Target="/ppt/notesSlides/notesSlide2.xml" Id="R6f5412fb6146433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2c8e97e0b749ab" /><Relationship Type="http://schemas.openxmlformats.org/officeDocument/2006/relationships/notesSlide" Target="/ppt/notesSlides/notesSlide3.xml" Id="R2ba7487fc8be42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d631d450d1474d" /><Relationship Type="http://schemas.openxmlformats.org/officeDocument/2006/relationships/image" Target="/ppt/media/image2.jpeg" Id="Ree063b1a41ae4c19" /><Relationship Type="http://schemas.openxmlformats.org/officeDocument/2006/relationships/notesSlide" Target="/ppt/notesSlides/notesSlide4.xml" Id="Rf8ac6660d43e49e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7f9226bfb548c3" /><Relationship Type="http://schemas.openxmlformats.org/officeDocument/2006/relationships/notesSlide" Target="/ppt/notesSlides/notesSlide5.xml" Id="R091381066cbe406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e96c55a4b04d65" /><Relationship Type="http://schemas.openxmlformats.org/officeDocument/2006/relationships/notesSlide" Target="/ppt/notesSlides/notesSlide6.xml" Id="R798e9bb57d5b4e0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47301b338346cc" /><Relationship Type="http://schemas.openxmlformats.org/officeDocument/2006/relationships/notesSlide" Target="/ppt/notesSlides/notesSlide7.xml" Id="R3603b1681f4e4e1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b117f7aaf14361" /><Relationship Type="http://schemas.openxmlformats.org/officeDocument/2006/relationships/notesSlide" Target="/ppt/notesSlides/notesSlide8.xml" Id="Rc20381bcd4ca408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25a2575f1d4444" /><Relationship Type="http://schemas.openxmlformats.org/officeDocument/2006/relationships/notesSlide" Target="/ppt/notesSlides/notesSlide9.xml" Id="Rdc1cc5239aa04cf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2c6b0a47ca4f57" /><Relationship Type="http://schemas.openxmlformats.org/officeDocument/2006/relationships/image" Target="/ppt/media/image3.jpeg" Id="R37a25984c8b44513" /><Relationship Type="http://schemas.openxmlformats.org/officeDocument/2006/relationships/notesSlide" Target="/ppt/notesSlides/notesSlide10.xml" Id="Re1a880389b1a43d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bd797f17814b22" /><Relationship Type="http://schemas.openxmlformats.org/officeDocument/2006/relationships/image" Target="/ppt/media/image4.jpeg" Id="R514571ab8116475a" /><Relationship Type="http://schemas.openxmlformats.org/officeDocument/2006/relationships/notesSlide" Target="/ppt/notesSlides/notesSlide11.xml" Id="Rc914549c86534c5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8eb3ec815c44a7" /><Relationship Type="http://schemas.openxmlformats.org/officeDocument/2006/relationships/image" Target="/ppt/media/image5.jpeg" Id="R76c2b16c36494854" /><Relationship Type="http://schemas.openxmlformats.org/officeDocument/2006/relationships/notesSlide" Target="/ppt/notesSlides/notesSlide12.xml" Id="Rb4658bc8d54344a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a0dec2fbd144a6" /><Relationship Type="http://schemas.openxmlformats.org/officeDocument/2006/relationships/notesSlide" Target="/ppt/notesSlides/notesSlide13.xml" Id="R67d85af1add5429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1EF4F0-0614-49C8-A591-9076112DB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808FA9-66A7-47F3-B606-88341FFDF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E41A82-0295-47C6-91A3-30E75F0C3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B46"/>
                </a:solidFill>
              </a:defRPr>
            </a:pPr>
            <a:r>
              <a:rPr sz="2100" b="1">
                <a:solidFill>
                  <a:srgbClr val="102B46"/>
                </a:solidFill>
              </a:rPr>
              <a:t>ABRADI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C017B9-4E38-4A80-8926-CE19F6587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95400"/>
            <a:ext cx="647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B46"/>
                </a:solidFill>
              </a:defRPr>
            </a:pPr>
            <a:r>
              <a:rPr sz="3600" b="1">
                <a:solidFill>
                  <a:srgbClr val="102B46"/>
                </a:solidFill>
              </a:rPr>
              <a:t>上海阿布拉迪广告有限公司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31AE96-3B1F-4F22-89E7-689C3F02A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9B4B"/>
                </a:solidFill>
              </a:defRPr>
            </a:pPr>
            <a:r>
              <a:rPr sz="1200" b="1">
                <a:solidFill>
                  <a:srgbClr val="C79B4B"/>
                </a:solidFill>
              </a:rPr>
              <a:t>SHANGHAI ABRADI ADVERTISING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FFB2ED-5CA4-448A-86EC-54A9B279D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B"/>
                </a:solidFill>
              </a:defRPr>
            </a:pPr>
            <a:r>
              <a:rPr sz="1875" b="1">
                <a:solidFill>
                  <a:srgbClr val="18324B"/>
                </a:solidFill>
              </a:rPr>
              <a:t>全球领先的数字视觉解决方案提供商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F57ADD-7815-40A0-8DB9-B9AA10B27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04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788"/>
                </a:solidFill>
              </a:defRPr>
            </a:pPr>
            <a:r>
              <a:rPr sz="1200" b="0">
                <a:solidFill>
                  <a:srgbClr val="667788"/>
                </a:solidFill>
              </a:rPr>
              <a:t>策略  /  数字视觉  /  三维动画  /  AI 视觉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4893bf72b54692"/>
          <a:srcRect xmlns:a="http://schemas.openxmlformats.org/drawingml/2006/main" l="29688" t="0" r="296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C55D32-65F8-4163-85B1-C91FE8036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82744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D5F9E7-9050-4B1F-A606-D42BA97C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1576C0-2472-4F03-858B-912A9EF8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B46"/>
                </a:solidFill>
              </a:defRPr>
            </a:pPr>
            <a:r>
              <a:rPr sz="1500" b="1">
                <a:solidFill>
                  <a:srgbClr val="102B46"/>
                </a:solidFill>
              </a:rPr>
              <a:t>ABRADI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1DF393-9E8D-4188-BA16-2EF796D24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9B4B"/>
                </a:solidFill>
              </a:defRPr>
            </a:pPr>
            <a:r>
              <a:rPr sz="975" b="1">
                <a:solidFill>
                  <a:srgbClr val="C79B4B"/>
                </a:solidFill>
              </a:rPr>
              <a:t>CONTENTS / 目录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70AAD1-BE7A-461B-A242-C5BD2E047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00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7788"/>
                </a:solidFill>
              </a:defRPr>
            </a:pPr>
            <a:r>
              <a:rPr sz="1050" b="1">
                <a:solidFill>
                  <a:srgbClr val="667788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72DE9A-59C7-458C-AB80-AA5A35720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571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B46"/>
                </a:solidFill>
              </a:defRPr>
            </a:pPr>
            <a:r>
              <a:rPr sz="3150" b="1">
                <a:solidFill>
                  <a:srgbClr val="102B46"/>
                </a:solidFill>
              </a:rPr>
              <a:t>让品牌表达，</a:t>
            </a:r>
          </a:p>
          <a:p xmlns:a="http://schemas.openxmlformats.org/drawingml/2006/main">
            <a:pPr algn="l">
              <a:defRPr sz="3150" b="1">
                <a:solidFill>
                  <a:srgbClr val="102B46"/>
                </a:solidFill>
              </a:defRPr>
            </a:pPr>
            <a:r>
              <a:rPr sz="3150" b="1">
                <a:solidFill>
                  <a:srgbClr val="102B46"/>
                </a:solidFill>
              </a:rPr>
              <a:t>更清晰地被看见。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0E7845-A43E-45AF-BCE9-80149F41D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571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788"/>
                </a:solidFill>
              </a:defRPr>
            </a:pPr>
            <a:r>
              <a:rPr sz="1425" b="0">
                <a:solidFill>
                  <a:srgbClr val="667788"/>
                </a:solidFill>
              </a:rPr>
              <a:t>从公司能力到项目案例，快速了解阿布拉迪。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8454CC-6E75-4C6C-B4C3-D3CCD4C4E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324B"/>
                </a:solidFill>
              </a:defRPr>
            </a:pPr>
            <a:r>
              <a:rPr sz="1650" b="1">
                <a:solidFill>
                  <a:srgbClr val="18324B"/>
                </a:solidFill>
              </a:rPr>
              <a:t>01  关于我们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AA5AD0-1895-4349-8F27-D4206FEEA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57625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64890C-AFAF-49AF-ADBC-F0A56BAC8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290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324B"/>
                </a:solidFill>
              </a:defRPr>
            </a:pPr>
            <a:r>
              <a:rPr sz="1650" b="1">
                <a:solidFill>
                  <a:srgbClr val="18324B"/>
                </a:solidFill>
              </a:rPr>
              <a:t>02  核心业务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51C918-6C01-4A0D-9024-A3C788AE1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57625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6AE7AB-0CF2-40F2-9843-2F863C44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100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324B"/>
                </a:solidFill>
              </a:defRPr>
            </a:pPr>
            <a:r>
              <a:rPr sz="1650" b="1">
                <a:solidFill>
                  <a:srgbClr val="18324B"/>
                </a:solidFill>
              </a:rPr>
              <a:t>03  服务行业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6EB0D2-884A-4E54-8FEE-460E425CB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38675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FAA8FD-AFA4-4F48-A4BF-0099963D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100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324B"/>
                </a:solidFill>
              </a:defRPr>
            </a:pPr>
            <a:r>
              <a:rPr sz="1650" b="1">
                <a:solidFill>
                  <a:srgbClr val="18324B"/>
                </a:solidFill>
              </a:rPr>
              <a:t>04  项目案例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7BF9E4-C0F6-4408-9FA7-9E4223FC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38675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CC0716-64C8-45E0-B1D9-3828C6B22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911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324B"/>
                </a:solidFill>
              </a:defRPr>
            </a:pPr>
            <a:r>
              <a:rPr sz="1650" b="1">
                <a:solidFill>
                  <a:srgbClr val="18324B"/>
                </a:solidFill>
              </a:rPr>
              <a:t>05  联系我们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5AC5E9-1041-4DA8-849D-2E0B4AAC4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19725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B4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863232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1E96F7-2E4E-4902-A235-568D7AE2C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D1C88E-F4D2-431D-A280-9C1C96DBC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B46"/>
                </a:solidFill>
              </a:defRPr>
            </a:pPr>
            <a:r>
              <a:rPr sz="1500" b="1">
                <a:solidFill>
                  <a:srgbClr val="102B46"/>
                </a:solidFill>
              </a:rPr>
              <a:t>ABRADI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CF7EB4-AA38-463D-AFC2-37BD2B0B0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9B4B"/>
                </a:solidFill>
              </a:defRPr>
            </a:pPr>
            <a:r>
              <a:rPr sz="975" b="1">
                <a:solidFill>
                  <a:srgbClr val="C79B4B"/>
                </a:solidFill>
              </a:rPr>
              <a:t>ABOUT ABRADI / 关于我们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033B8A-E1F4-4E6E-A35C-063C7B0A6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00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7788"/>
                </a:solidFill>
              </a:defRPr>
            </a:pPr>
            <a:r>
              <a:rPr sz="1050" b="1">
                <a:solidFill>
                  <a:srgbClr val="667788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7DA57C-E78E-4760-A800-CD4EFF72C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571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B46"/>
                </a:solidFill>
              </a:defRPr>
            </a:pPr>
            <a:r>
              <a:rPr sz="3150" b="1">
                <a:solidFill>
                  <a:srgbClr val="102B46"/>
                </a:solidFill>
              </a:rPr>
              <a:t>数字视觉，服务品牌长期表达。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3D3626-86C0-4180-A55F-1CDDA7F5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571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788"/>
                </a:solidFill>
              </a:defRPr>
            </a:pPr>
            <a:r>
              <a:rPr sz="1425" b="0">
                <a:solidFill>
                  <a:srgbClr val="667788"/>
                </a:solidFill>
              </a:rPr>
              <a:t>专注于策略、三维动态、AI 视觉与影像内容制作。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215D4A-7BCC-4AFD-8D1D-41CDC1270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2381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959638-2E94-420C-B715-25682409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1952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B46"/>
                </a:solidFill>
              </a:defRPr>
            </a:pPr>
            <a:r>
              <a:rPr sz="2250" b="1">
                <a:solidFill>
                  <a:srgbClr val="102B46"/>
                </a:solidFill>
              </a:rPr>
              <a:t>10+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F1D198-307F-4D7E-A50A-446DC8087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62450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788"/>
                </a:solidFill>
              </a:defRPr>
            </a:pPr>
            <a:r>
              <a:rPr sz="1200" b="0">
                <a:solidFill>
                  <a:srgbClr val="667788"/>
                </a:solidFill>
              </a:rPr>
              <a:t>年数字视觉制作经验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2DBB9E-B773-40D0-9920-BE4DD5E76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524250"/>
            <a:ext cx="2381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C8004F-E4AA-43B5-BDA2-F2A39C02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790950"/>
            <a:ext cx="1952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B46"/>
                </a:solidFill>
              </a:defRPr>
            </a:pPr>
            <a:r>
              <a:rPr sz="2250" b="1">
                <a:solidFill>
                  <a:srgbClr val="102B46"/>
                </a:solidFill>
              </a:rPr>
              <a:t>200+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A8B8D3-DF33-481F-8EF4-86E93B9C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362450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788"/>
                </a:solidFill>
              </a:defRPr>
            </a:pPr>
            <a:r>
              <a:rPr sz="1200" b="0">
                <a:solidFill>
                  <a:srgbClr val="667788"/>
                </a:solidFill>
              </a:rPr>
              <a:t>全球品牌服务经验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7E7FA2-D834-49E7-AC0D-BBD1B0207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24250"/>
            <a:ext cx="2381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8E4EA1-3DB4-4BF6-B33B-81E6493B7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90950"/>
            <a:ext cx="1952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B46"/>
                </a:solidFill>
              </a:defRPr>
            </a:pPr>
            <a:r>
              <a:rPr sz="2250" b="1">
                <a:solidFill>
                  <a:srgbClr val="102B46"/>
                </a:solidFill>
              </a:rPr>
              <a:t>3D + 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6AB16F-AB84-43A5-B3DD-5CD9D422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62450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788"/>
                </a:solidFill>
              </a:defRPr>
            </a:pPr>
            <a:r>
              <a:rPr sz="1200" b="0">
                <a:solidFill>
                  <a:srgbClr val="667788"/>
                </a:solidFill>
              </a:rPr>
              <a:t>数字视觉能力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F66C13-95A1-498F-B051-D325C142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524250"/>
            <a:ext cx="2381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A1FB15-25FB-4FD8-A79B-865E9420A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790950"/>
            <a:ext cx="1952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B46"/>
                </a:solidFill>
              </a:defRPr>
            </a:pPr>
            <a:r>
              <a:rPr sz="2250" b="1">
                <a:solidFill>
                  <a:srgbClr val="102B46"/>
                </a:solidFill>
              </a:rPr>
              <a:t>FULL SERVICE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699F10-61ED-42CA-9B59-E1924CEB7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362450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788"/>
                </a:solidFill>
              </a:defRPr>
            </a:pPr>
            <a:r>
              <a:rPr sz="1200" b="0">
                <a:solidFill>
                  <a:srgbClr val="667788"/>
                </a:solidFill>
              </a:rPr>
              <a:t>从策略到交付</a:t>
            </a:r>
          </a:p>
        </p:txBody>
      </p:sp>
    </p:spTree>
    <p:extLst>
      <p:ext uri="{BB962C8B-B14F-4D97-AF65-F5344CB8AC3E}">
        <p14:creationId xmlns:p14="http://schemas.microsoft.com/office/powerpoint/2010/main" val="6299039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AB4087-4779-48E2-B0D9-BD4EA387A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9D11E2-A0B8-4287-AFB7-2F83651C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B46"/>
                </a:solidFill>
              </a:defRPr>
            </a:pPr>
            <a:r>
              <a:rPr sz="1500" b="1">
                <a:solidFill>
                  <a:srgbClr val="102B46"/>
                </a:solidFill>
              </a:rPr>
              <a:t>ABRADI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64395F-A4CD-4E70-8592-B8342B5DB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9B4B"/>
                </a:solidFill>
              </a:defRPr>
            </a:pPr>
            <a:r>
              <a:rPr sz="975" b="1">
                <a:solidFill>
                  <a:srgbClr val="C79B4B"/>
                </a:solidFill>
              </a:rPr>
              <a:t>COMPANY PROFILE / 企业简介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4F5810-19AF-480A-8E46-4055FF793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00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7788"/>
                </a:solidFill>
              </a:defRPr>
            </a:pPr>
            <a:r>
              <a:rPr sz="1050" b="1">
                <a:solidFill>
                  <a:srgbClr val="667788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BFE9AA-E84A-4F82-8B9B-038644177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571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B46"/>
                </a:solidFill>
              </a:defRPr>
            </a:pPr>
            <a:r>
              <a:rPr sz="3150" b="1">
                <a:solidFill>
                  <a:srgbClr val="102B46"/>
                </a:solidFill>
              </a:rPr>
              <a:t>为全球化品牌提供</a:t>
            </a:r>
          </a:p>
          <a:p xmlns:a="http://schemas.openxmlformats.org/drawingml/2006/main">
            <a:pPr algn="l">
              <a:defRPr sz="3150" b="1">
                <a:solidFill>
                  <a:srgbClr val="102B46"/>
                </a:solidFill>
              </a:defRPr>
            </a:pPr>
            <a:r>
              <a:rPr sz="3150" b="1">
                <a:solidFill>
                  <a:srgbClr val="102B46"/>
                </a:solidFill>
              </a:rPr>
              <a:t>数字视觉解决方案。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77429A-A823-4F31-A279-3789AB154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571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788"/>
                </a:solidFill>
              </a:defRPr>
            </a:pPr>
            <a:r>
              <a:rPr sz="1425" b="0">
                <a:solidFill>
                  <a:srgbClr val="667788"/>
                </a:solidFill>
              </a:rPr>
              <a:t>以策略为起点，以视觉为语言，让产品、空间与品牌价值被准确看见。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2531CC-8133-4E99-B891-0D0DB5BD2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90900"/>
            <a:ext cx="5143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A0499F-4C3E-49FA-BFC3-1C2793AD5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71900"/>
            <a:ext cx="438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324B"/>
                </a:solidFill>
              </a:defRPr>
            </a:pPr>
            <a:r>
              <a:rPr sz="1425" b="0">
                <a:solidFill>
                  <a:srgbClr val="18324B"/>
                </a:solidFill>
              </a:rPr>
              <a:t>我们服务于品牌传播、产品上市、空间体验与数字内容场景。</a:t>
            </a:r>
          </a:p>
          <a:p xmlns:a="http://schemas.openxmlformats.org/drawingml/2006/main">
            <a:pPr algn="l">
              <a:defRPr sz="1425" b="0">
                <a:solidFill>
                  <a:srgbClr val="18324B"/>
                </a:solidFill>
              </a:defRPr>
            </a:pPr>
            <a:r>
              <a:rPr sz="1425" b="0">
                <a:solidFill>
                  <a:srgbClr val="18324B"/>
                </a:solidFill>
              </a:rPr>
              <a:t>通过创意方向、视觉设计与制作统筹，让复杂信息被清晰理解。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063b1a41ae4c19"/>
          <a:srcRect xmlns:a="http://schemas.openxmlformats.org/drawingml/2006/main" l="16518" t="0" r="165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0" y="1238250"/>
            <a:ext cx="4762500" cy="400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3435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E82D09-3DD2-4B8D-B005-E475B58C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A189FF-AFFD-45E2-8F80-8623223C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B46"/>
                </a:solidFill>
              </a:defRPr>
            </a:pPr>
            <a:r>
              <a:rPr sz="1500" b="1">
                <a:solidFill>
                  <a:srgbClr val="102B46"/>
                </a:solidFill>
              </a:rPr>
              <a:t>ABRADI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B5CB27-D593-4A6F-8044-3E75F26EF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9B4B"/>
                </a:solidFill>
              </a:defRPr>
            </a:pPr>
            <a:r>
              <a:rPr sz="975" b="1">
                <a:solidFill>
                  <a:srgbClr val="C79B4B"/>
                </a:solidFill>
              </a:rPr>
              <a:t>CORE SERVICES / 核心业务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B45ADF-4E54-42CA-9EBF-D3429C74F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00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7788"/>
                </a:solidFill>
              </a:defRPr>
            </a:pPr>
            <a:r>
              <a:rPr sz="1050" b="1">
                <a:solidFill>
                  <a:srgbClr val="667788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CF5654-3903-4719-B15D-F26712D28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571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B46"/>
                </a:solidFill>
              </a:defRPr>
            </a:pPr>
            <a:r>
              <a:rPr sz="3150" b="1">
                <a:solidFill>
                  <a:srgbClr val="102B46"/>
                </a:solidFill>
              </a:rPr>
              <a:t>四类能力，覆盖一次完整表达。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9DEA07-E7EB-480A-8CFE-5ED481CAA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4857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990166-DD51-4937-9198-B334B3B16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623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9B4B"/>
                </a:solidFill>
              </a:defRPr>
            </a:pPr>
            <a:r>
              <a:rPr sz="1050" b="1">
                <a:solidFill>
                  <a:srgbClr val="C79B4B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D1B04A-7482-449B-A18F-BC5E83864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2420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B46"/>
                </a:solidFill>
              </a:defRPr>
            </a:pPr>
            <a:r>
              <a:rPr sz="1800" b="1">
                <a:solidFill>
                  <a:srgbClr val="102B46"/>
                </a:solidFill>
              </a:rPr>
              <a:t>品牌策略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E8F96E-162D-40F7-94B1-D007AFDC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052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788"/>
                </a:solidFill>
              </a:defRPr>
            </a:pPr>
            <a:r>
              <a:rPr sz="1200" b="0">
                <a:solidFill>
                  <a:srgbClr val="667788"/>
                </a:solidFill>
              </a:rPr>
              <a:t>定位梳理 / 创意方向 / 视觉系统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04815F-5174-43DA-9695-4DEEA12F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52750"/>
            <a:ext cx="4857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6E5CDA-6A2E-4BEC-A735-349342CA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1623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9B4B"/>
                </a:solidFill>
              </a:defRPr>
            </a:pPr>
            <a:r>
              <a:rPr sz="1050" b="1">
                <a:solidFill>
                  <a:srgbClr val="C79B4B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887CFA-6A7C-4EE4-80C9-4CBD201C6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B46"/>
                </a:solidFill>
              </a:defRPr>
            </a:pPr>
            <a:r>
              <a:rPr sz="1800" b="1">
                <a:solidFill>
                  <a:srgbClr val="102B46"/>
                </a:solidFill>
              </a:rPr>
              <a:t>产品叙事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5DCC73-4FD1-4A9D-A0A1-8AE9E3B87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052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788"/>
                </a:solidFill>
              </a:defRPr>
            </a:pPr>
            <a:r>
              <a:rPr sz="1200" b="0">
                <a:solidFill>
                  <a:srgbClr val="667788"/>
                </a:solidFill>
              </a:rPr>
              <a:t>产品价值 / 场景表达 / 材质细节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B2F5D2-54A9-4E9B-8BB6-DDF621752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0"/>
            <a:ext cx="4857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E689E1-AB2A-45D4-8084-9251B79C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910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9B4B"/>
                </a:solidFill>
              </a:defRPr>
            </a:pPr>
            <a:r>
              <a:rPr sz="1050" b="1">
                <a:solidFill>
                  <a:srgbClr val="C79B4B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16576A-B885-4ABB-8F99-FEE888C06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529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B46"/>
                </a:solidFill>
              </a:defRPr>
            </a:pPr>
            <a:r>
              <a:rPr sz="1800" b="1">
                <a:solidFill>
                  <a:srgbClr val="102B46"/>
                </a:solidFill>
              </a:rPr>
              <a:t>数字视觉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8DBEB9-AE4E-4E50-A657-97B1908D0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33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788"/>
                </a:solidFill>
              </a:defRPr>
            </a:pPr>
            <a:r>
              <a:rPr sz="1200" b="0">
                <a:solidFill>
                  <a:srgbClr val="667788"/>
                </a:solidFill>
              </a:rPr>
              <a:t>三维动态 / 影像制作 / AI 视觉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AD6BA6-97B3-492C-94B2-4D5E93FD7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81500"/>
            <a:ext cx="4857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22F2E8-F53F-4208-9E9E-323C49D31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5910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9B4B"/>
                </a:solidFill>
              </a:defRPr>
            </a:pPr>
            <a:r>
              <a:rPr sz="1050" b="1">
                <a:solidFill>
                  <a:srgbClr val="C79B4B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25D0F9-CE8A-4B24-8FE1-74DC39F34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529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B46"/>
                </a:solidFill>
              </a:defRPr>
            </a:pPr>
            <a:r>
              <a:rPr sz="1800" b="1">
                <a:solidFill>
                  <a:srgbClr val="102B46"/>
                </a:solidFill>
              </a:rPr>
              <a:t>整合交付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E87499-8816-471F-8C3F-6CB15EC58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33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788"/>
                </a:solidFill>
              </a:defRPr>
            </a:pPr>
            <a:r>
              <a:rPr sz="1200" b="0">
                <a:solidFill>
                  <a:srgbClr val="667788"/>
                </a:solidFill>
              </a:rPr>
              <a:t>多端适配 / 制作统筹 / 上线支持</a:t>
            </a:r>
          </a:p>
        </p:txBody>
      </p:sp>
    </p:spTree>
    <p:extLst>
      <p:ext uri="{BB962C8B-B14F-4D97-AF65-F5344CB8AC3E}">
        <p14:creationId xmlns:p14="http://schemas.microsoft.com/office/powerpoint/2010/main" val="7332267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2FB20A-42EF-4E88-9F12-5A6264CF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3BE3F7-344E-47A4-8EDD-5C2F16BD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B46"/>
                </a:solidFill>
              </a:defRPr>
            </a:pPr>
            <a:r>
              <a:rPr sz="1500" b="1">
                <a:solidFill>
                  <a:srgbClr val="102B46"/>
                </a:solidFill>
              </a:rPr>
              <a:t>ABRADI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F6BA96-8087-4714-812B-661136390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9B4B"/>
                </a:solidFill>
              </a:defRPr>
            </a:pPr>
            <a:r>
              <a:rPr sz="975" b="1">
                <a:solidFill>
                  <a:srgbClr val="C79B4B"/>
                </a:solidFill>
              </a:rPr>
              <a:t>INDUSTRY COVERAGE / 服务行业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F677C9-FD46-4C53-99BE-DFDDD8712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00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7788"/>
                </a:solidFill>
              </a:defRPr>
            </a:pPr>
            <a:r>
              <a:rPr sz="1050" b="1">
                <a:solidFill>
                  <a:srgbClr val="667788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42ACF0-8CFB-4BDC-AD97-96276D52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571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B46"/>
                </a:solidFill>
              </a:defRPr>
            </a:pPr>
            <a:r>
              <a:rPr sz="3150" b="1">
                <a:solidFill>
                  <a:srgbClr val="102B46"/>
                </a:solidFill>
              </a:rPr>
              <a:t>理解行业，更理解品牌的真实场景。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8B2131-D528-43EF-AD12-58FF57568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571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788"/>
                </a:solidFill>
              </a:defRPr>
            </a:pPr>
            <a:r>
              <a:rPr sz="1425" b="0">
                <a:solidFill>
                  <a:srgbClr val="667788"/>
                </a:solidFill>
              </a:rPr>
              <a:t>覆盖多元行业的产品、空间与品牌沟通需求。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BEB424-56C5-4D90-8B17-AE1C1F62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9B4B"/>
                </a:solidFill>
              </a:defRPr>
            </a:pPr>
            <a:r>
              <a:rPr sz="1050" b="1">
                <a:solidFill>
                  <a:srgbClr val="C79B4B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1C901D-715B-4111-8A46-105B6EC68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B46"/>
                </a:solidFill>
              </a:defRPr>
            </a:pPr>
            <a:r>
              <a:rPr sz="1650" b="1">
                <a:solidFill>
                  <a:srgbClr val="102B46"/>
                </a:solidFill>
              </a:rPr>
              <a:t>智能家居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4E3B1A-D384-464B-B368-E8BE40168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788"/>
                </a:solidFill>
              </a:defRPr>
            </a:pPr>
            <a:r>
              <a:rPr sz="1200" b="0">
                <a:solidFill>
                  <a:srgbClr val="667788"/>
                </a:solidFill>
              </a:rPr>
              <a:t>卫浴 / 厨电 / 空间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424CBD-F6A3-41C9-9975-97DA77FC3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CCA3FF-F28E-47D2-8262-5A2DEB3D7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429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9B4B"/>
                </a:solidFill>
              </a:defRPr>
            </a:pPr>
            <a:r>
              <a:rPr sz="1050" b="1">
                <a:solidFill>
                  <a:srgbClr val="C79B4B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159AAD-1FFF-425F-835E-C011B66FC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8100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B46"/>
                </a:solidFill>
              </a:defRPr>
            </a:pPr>
            <a:r>
              <a:rPr sz="1650" b="1">
                <a:solidFill>
                  <a:srgbClr val="102B46"/>
                </a:solidFill>
              </a:rPr>
              <a:t>交通出行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18458D-853E-43A0-B310-78A5C432E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2100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788"/>
                </a:solidFill>
              </a:defRPr>
            </a:pPr>
            <a:r>
              <a:rPr sz="1200" b="0">
                <a:solidFill>
                  <a:srgbClr val="667788"/>
                </a:solidFill>
              </a:rPr>
              <a:t>轨交 / 汽车 / 工业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CC0743-B9B7-474A-ADAD-1C5D128FC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667250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7B5C96-2C1A-4450-9EE5-E63220179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29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9B4B"/>
                </a:solidFill>
              </a:defRPr>
            </a:pPr>
            <a:r>
              <a:rPr sz="1050" b="1">
                <a:solidFill>
                  <a:srgbClr val="C79B4B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567C7B-A71E-4582-8FF7-A963F8672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100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B46"/>
                </a:solidFill>
              </a:defRPr>
            </a:pPr>
            <a:r>
              <a:rPr sz="1650" b="1">
                <a:solidFill>
                  <a:srgbClr val="102B46"/>
                </a:solidFill>
              </a:rPr>
              <a:t>美妆健康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F3EBBC-B7D3-475E-A64C-950B646D8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100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788"/>
                </a:solidFill>
              </a:defRPr>
            </a:pPr>
            <a:r>
              <a:rPr sz="1200" b="0">
                <a:solidFill>
                  <a:srgbClr val="667788"/>
                </a:solidFill>
              </a:rPr>
              <a:t>护肤 / 医美 / 科技美容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771334-284E-411B-829E-CE1934F60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67250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45024F-5205-43D0-A5F1-7C190314E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429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9B4B"/>
                </a:solidFill>
              </a:defRPr>
            </a:pPr>
            <a:r>
              <a:rPr sz="1050" b="1">
                <a:solidFill>
                  <a:srgbClr val="C79B4B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208E71-F991-4992-891F-EDBF8AAE1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B46"/>
                </a:solidFill>
              </a:defRPr>
            </a:pPr>
            <a:r>
              <a:rPr sz="1650" b="1">
                <a:solidFill>
                  <a:srgbClr val="102B46"/>
                </a:solidFill>
              </a:rPr>
              <a:t>消费科技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0A440D-19E4-49A3-830C-269F43CC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2100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788"/>
                </a:solidFill>
              </a:defRPr>
            </a:pPr>
            <a:r>
              <a:rPr sz="1200" b="0">
                <a:solidFill>
                  <a:srgbClr val="667788"/>
                </a:solidFill>
              </a:rPr>
              <a:t>数码 / 硬件 / 新产品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A129CF-3A6B-4155-A52B-387530FE9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667250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B4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269487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E4023F-949A-42C8-B88E-18A490CD8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3EACBD-34F5-4627-993F-40610D1FB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B46"/>
                </a:solidFill>
              </a:defRPr>
            </a:pPr>
            <a:r>
              <a:rPr sz="1500" b="1">
                <a:solidFill>
                  <a:srgbClr val="102B46"/>
                </a:solidFill>
              </a:rPr>
              <a:t>ABRADI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586B4F-CAD3-40A0-9A6F-BBF299460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9B4B"/>
                </a:solidFill>
              </a:defRPr>
            </a:pPr>
            <a:r>
              <a:rPr sz="975" b="1">
                <a:solidFill>
                  <a:srgbClr val="C79B4B"/>
                </a:solidFill>
              </a:rPr>
              <a:t>SELECTED PARTNERS / 合作伙伴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DCCA96-E4D4-4E55-96B6-60AF1284C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00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7788"/>
                </a:solidFill>
              </a:defRPr>
            </a:pPr>
            <a:r>
              <a:rPr sz="1050" b="1">
                <a:solidFill>
                  <a:srgbClr val="667788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20AAF7-2DDC-4958-90CD-33CBB3DA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571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B46"/>
                </a:solidFill>
              </a:defRPr>
            </a:pPr>
            <a:r>
              <a:rPr sz="3150" b="1">
                <a:solidFill>
                  <a:srgbClr val="102B46"/>
                </a:solidFill>
              </a:rPr>
              <a:t>服务案例覆盖多个国际化品牌。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2F2B39-0A5C-4839-871A-1FA94E31A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571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788"/>
                </a:solidFill>
              </a:defRPr>
            </a:pPr>
            <a:r>
              <a:rPr sz="1425" b="0">
                <a:solidFill>
                  <a:srgbClr val="667788"/>
                </a:solidFill>
              </a:rPr>
              <a:t>以下为已在项目案例中展示的合作品牌；完整 Logo 墙可在品牌授权后补充。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D919ED-8D3C-4119-97ED-7231B4FF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22383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1EDB71-26FD-4257-8EEF-678CC468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48100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B46"/>
                </a:solidFill>
              </a:defRPr>
            </a:pPr>
            <a:r>
              <a:rPr sz="1650" b="1">
                <a:solidFill>
                  <a:srgbClr val="102B46"/>
                </a:solidFill>
              </a:rPr>
              <a:t>KOHLER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240A84-15D3-4610-B9F5-D0A05E3C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524250"/>
            <a:ext cx="22383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3F29A5-A197-4062-91E8-DA28D34EE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848100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B46"/>
                </a:solidFill>
              </a:defRPr>
            </a:pPr>
            <a:r>
              <a:rPr sz="1650" b="1">
                <a:solidFill>
                  <a:srgbClr val="102B46"/>
                </a:solidFill>
              </a:rPr>
              <a:t>TUBLER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647F7E-1F86-4B3F-BA9F-612609D25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24250"/>
            <a:ext cx="22383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1C85AC-5B70-4A3D-BAFA-2768D16D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48100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B46"/>
                </a:solidFill>
              </a:defRPr>
            </a:pPr>
            <a:r>
              <a:rPr sz="1650" b="1">
                <a:solidFill>
                  <a:srgbClr val="102B46"/>
                </a:solidFill>
              </a:rPr>
              <a:t>MESTETIC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1EFC46-EBBA-4745-B791-6FFC0DCB5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524250"/>
            <a:ext cx="22383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EAB193-BB6B-4B92-917A-25315B3C8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48100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B46"/>
                </a:solidFill>
              </a:defRPr>
            </a:pPr>
            <a:r>
              <a:rPr sz="1650" b="1">
                <a:solidFill>
                  <a:srgbClr val="102B46"/>
                </a:solidFill>
              </a:rPr>
              <a:t>BRILLIANCE</a:t>
            </a:r>
          </a:p>
        </p:txBody>
      </p:sp>
    </p:spTree>
    <p:extLst>
      <p:ext uri="{BB962C8B-B14F-4D97-AF65-F5344CB8AC3E}">
        <p14:creationId xmlns:p14="http://schemas.microsoft.com/office/powerpoint/2010/main" val="677085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669CB7-7F11-4766-B8F7-54DB0CF12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E1774E-4C5C-4F0C-BC0C-39CB7489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B46"/>
                </a:solidFill>
              </a:defRPr>
            </a:pPr>
            <a:r>
              <a:rPr sz="1500" b="1">
                <a:solidFill>
                  <a:srgbClr val="102B46"/>
                </a:solidFill>
              </a:rPr>
              <a:t>ABRADI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3C7107-9E34-4C86-8BFE-0A68E9CC5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9B4B"/>
                </a:solidFill>
              </a:defRPr>
            </a:pPr>
            <a:r>
              <a:rPr sz="975" b="1">
                <a:solidFill>
                  <a:srgbClr val="C79B4B"/>
                </a:solidFill>
              </a:rPr>
              <a:t>TEAM &amp; NETWORK / 专业团队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CF4F8E-022D-4828-8EF4-F1DEDC06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00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7788"/>
                </a:solidFill>
              </a:defRPr>
            </a:pPr>
            <a:r>
              <a:rPr sz="1050" b="1">
                <a:solidFill>
                  <a:srgbClr val="667788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9B0C6D-0FC3-48BD-9AD4-50503057A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571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B46"/>
                </a:solidFill>
              </a:defRPr>
            </a:pPr>
            <a:r>
              <a:rPr sz="3150" b="1">
                <a:solidFill>
                  <a:srgbClr val="102B46"/>
                </a:solidFill>
              </a:rPr>
              <a:t>核心团队统筹，项目资源协同。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F1670B-DCBF-4C4C-B946-37F326182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571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788"/>
                </a:solidFill>
              </a:defRPr>
            </a:pPr>
            <a:r>
              <a:rPr sz="1425" b="0">
                <a:solidFill>
                  <a:srgbClr val="667788"/>
                </a:solidFill>
              </a:rPr>
              <a:t>按项目配置合适的创意、视觉、影像与技术资源。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1FC55A-73E1-4F87-B122-1FF74B045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4857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E23E16-4C4F-45EB-BE1A-8FB3A6897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33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9B4B"/>
                </a:solidFill>
              </a:defRPr>
            </a:pPr>
            <a:r>
              <a:rPr sz="1200" b="1">
                <a:solidFill>
                  <a:srgbClr val="C79B4B"/>
                </a:solidFill>
              </a:rPr>
              <a:t>CREATIVE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B7B1A9-F613-4C85-861B-94D69DB65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67125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24B"/>
                </a:solidFill>
              </a:defRPr>
            </a:pPr>
            <a:r>
              <a:rPr sz="1350" b="1">
                <a:solidFill>
                  <a:srgbClr val="18324B"/>
                </a:solidFill>
              </a:rPr>
              <a:t>策略 / 概念 / 视觉方向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0E84C7-028A-48D6-BE64-F40D6533B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143250"/>
            <a:ext cx="4857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D617F5-DED9-41D3-9114-F007E6971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33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9B4B"/>
                </a:solidFill>
              </a:defRPr>
            </a:pPr>
            <a:r>
              <a:rPr sz="1200" b="1">
                <a:solidFill>
                  <a:srgbClr val="C79B4B"/>
                </a:solidFill>
              </a:rPr>
              <a:t>VISUAL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16CB6A-A70E-4201-9BF5-3F2488C0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67125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24B"/>
                </a:solidFill>
              </a:defRPr>
            </a:pPr>
            <a:r>
              <a:rPr sz="1350" b="1">
                <a:solidFill>
                  <a:srgbClr val="18324B"/>
                </a:solidFill>
              </a:rPr>
              <a:t>三维 / 动态 / AI 视觉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A76A72-F42C-44A6-BC8F-821CC712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0"/>
            <a:ext cx="4857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4C493A-FA60-4E80-BAD6-3ABA37D3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720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9B4B"/>
                </a:solidFill>
              </a:defRPr>
            </a:pPr>
            <a:r>
              <a:rPr sz="1200" b="1">
                <a:solidFill>
                  <a:srgbClr val="C79B4B"/>
                </a:solidFill>
              </a:rPr>
              <a:t>CONTENT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A2DDCE-A354-4742-B149-47FA35FC0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05375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24B"/>
                </a:solidFill>
              </a:defRPr>
            </a:pPr>
            <a:r>
              <a:rPr sz="1350" b="1">
                <a:solidFill>
                  <a:srgbClr val="18324B"/>
                </a:solidFill>
              </a:rPr>
              <a:t>导演 / 摄影 / 剪辑制作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46E91C-944C-4281-962A-062C761E9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381500"/>
            <a:ext cx="4857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D8A778-1B44-42F5-AA57-18881C87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720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9B4B"/>
                </a:solidFill>
              </a:defRPr>
            </a:pPr>
            <a:r>
              <a:rPr sz="1200" b="1">
                <a:solidFill>
                  <a:srgbClr val="C79B4B"/>
                </a:solidFill>
              </a:rPr>
              <a:t>TECH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01EBC9-F152-4CBE-B978-0471A5D63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05375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24B"/>
                </a:solidFill>
              </a:defRPr>
            </a:pPr>
            <a:r>
              <a:rPr sz="1350" b="1">
                <a:solidFill>
                  <a:srgbClr val="18324B"/>
                </a:solidFill>
              </a:rPr>
              <a:t>互动 / 屏幕 / 多端适配</a:t>
            </a:r>
          </a:p>
        </p:txBody>
      </p:sp>
    </p:spTree>
    <p:extLst>
      <p:ext uri="{BB962C8B-B14F-4D97-AF65-F5344CB8AC3E}">
        <p14:creationId xmlns:p14="http://schemas.microsoft.com/office/powerpoint/2010/main" val="11813914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3052C3-FC73-4C08-BDBB-03B387F3C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934186-FE20-4E64-9035-5FD91C3E7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B46"/>
                </a:solidFill>
              </a:defRPr>
            </a:pPr>
            <a:r>
              <a:rPr sz="1500" b="1">
                <a:solidFill>
                  <a:srgbClr val="102B46"/>
                </a:solidFill>
              </a:rPr>
              <a:t>ABRADI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F12D2C-E615-40BD-89A7-27C941C52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9B4B"/>
                </a:solidFill>
              </a:defRPr>
            </a:pPr>
            <a:r>
              <a:rPr sz="975" b="1">
                <a:solidFill>
                  <a:srgbClr val="C79B4B"/>
                </a:solidFill>
              </a:rPr>
              <a:t>WORKING TOGETHER / 合作流程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2A9012-8F31-4BC9-B3C1-B9E660C9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00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7788"/>
                </a:solidFill>
              </a:defRPr>
            </a:pPr>
            <a:r>
              <a:rPr sz="1050" b="1">
                <a:solidFill>
                  <a:srgbClr val="667788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F0032F-E9FC-405F-8379-2D3B3F0AD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571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B46"/>
                </a:solidFill>
              </a:defRPr>
            </a:pPr>
            <a:r>
              <a:rPr sz="3150" b="1">
                <a:solidFill>
                  <a:srgbClr val="102B46"/>
                </a:solidFill>
              </a:rPr>
              <a:t>让创意视觉，有一条清晰的落地路径。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1665C1-1F7A-4DB0-9A22-9FA375F83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571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788"/>
                </a:solidFill>
              </a:defRPr>
            </a:pPr>
            <a:r>
              <a:rPr sz="1425" b="0">
                <a:solidFill>
                  <a:srgbClr val="667788"/>
                </a:solidFill>
              </a:rPr>
              <a:t>项目负责人全程统筹，关键节点确认，确保交付节奏透明可控。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02AC34-860A-402C-8E0E-31335E3BD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228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45BB8E-1970-4BE9-AF81-82729356C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862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9B4B"/>
                </a:solidFill>
              </a:defRPr>
            </a:pPr>
            <a:r>
              <a:rPr sz="975" b="1">
                <a:solidFill>
                  <a:srgbClr val="C79B4B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00BC33-D3F5-4A33-9E81-0DF19C702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71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B46"/>
                </a:solidFill>
              </a:defRPr>
            </a:pPr>
            <a:r>
              <a:rPr sz="1575" b="1">
                <a:solidFill>
                  <a:srgbClr val="102B46"/>
                </a:solidFill>
              </a:rPr>
              <a:t>DEFINE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5F16F6-EB98-4D49-A500-B62B5C4E2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339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788"/>
                </a:solidFill>
              </a:defRPr>
            </a:pPr>
            <a:r>
              <a:rPr sz="1125" b="0">
                <a:solidFill>
                  <a:srgbClr val="667788"/>
                </a:solidFill>
              </a:rPr>
              <a:t>目标 / 受众 / 场景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C2BA18-8337-4E2B-A4A8-E4DDB075E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714750"/>
            <a:ext cx="228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77CCB2-0FDD-475F-8DA7-EDCD421D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8862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9B4B"/>
                </a:solidFill>
              </a:defRPr>
            </a:pPr>
            <a:r>
              <a:rPr sz="975" b="1">
                <a:solidFill>
                  <a:srgbClr val="C79B4B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5E43F8-F8F6-472A-A2B5-4A9C87A60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171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B46"/>
                </a:solidFill>
              </a:defRPr>
            </a:pPr>
            <a:r>
              <a:rPr sz="1575" b="1">
                <a:solidFill>
                  <a:srgbClr val="102B46"/>
                </a:solidFill>
              </a:rPr>
              <a:t>DIRECT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89638F-1837-4675-9FBE-1916C35AB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5339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788"/>
                </a:solidFill>
              </a:defRPr>
            </a:pPr>
            <a:r>
              <a:rPr sz="1125" b="0">
                <a:solidFill>
                  <a:srgbClr val="667788"/>
                </a:solidFill>
              </a:rPr>
              <a:t>策略 / 概念 / 风格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9312F5-4C88-43F8-B299-06BD61EB4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14750"/>
            <a:ext cx="228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A28EA3-6AAE-489E-8071-8462730B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862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9B4B"/>
                </a:solidFill>
              </a:defRPr>
            </a:pPr>
            <a:r>
              <a:rPr sz="975" b="1">
                <a:solidFill>
                  <a:srgbClr val="C79B4B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3CD9F0-D1FC-4A4F-AFD0-15C74787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71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B46"/>
                </a:solidFill>
              </a:defRPr>
            </a:pPr>
            <a:r>
              <a:rPr sz="1575" b="1">
                <a:solidFill>
                  <a:srgbClr val="102B46"/>
                </a:solidFill>
              </a:rPr>
              <a:t>MAKE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C8FADB-BDBD-4A3C-AF42-F214FFB6E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339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788"/>
                </a:solidFill>
              </a:defRPr>
            </a:pPr>
            <a:r>
              <a:rPr sz="1125" b="0">
                <a:solidFill>
                  <a:srgbClr val="667788"/>
                </a:solidFill>
              </a:rPr>
              <a:t>制作 / 打磨 / 把控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573602-FE69-4C0E-BE92-FD9A5D13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714750"/>
            <a:ext cx="228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E864DE-2D4F-4ADD-A603-C1E9E1531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8862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9B4B"/>
                </a:solidFill>
              </a:defRPr>
            </a:pPr>
            <a:r>
              <a:rPr sz="975" b="1">
                <a:solidFill>
                  <a:srgbClr val="C79B4B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9C70BF-8159-475B-B9DE-22DE74DAD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171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B46"/>
                </a:solidFill>
              </a:defRPr>
            </a:pPr>
            <a:r>
              <a:rPr sz="1575" b="1">
                <a:solidFill>
                  <a:srgbClr val="102B46"/>
                </a:solidFill>
              </a:rPr>
              <a:t>DEPLOY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384183-A71A-45F2-8C1D-73B7EDF5E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5339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788"/>
                </a:solidFill>
              </a:defRPr>
            </a:pPr>
            <a:r>
              <a:rPr sz="1125" b="0">
                <a:solidFill>
                  <a:srgbClr val="667788"/>
                </a:solidFill>
              </a:rPr>
              <a:t>交付 / 适配 / 上线</a:t>
            </a:r>
          </a:p>
        </p:txBody>
      </p:sp>
    </p:spTree>
    <p:extLst>
      <p:ext uri="{BB962C8B-B14F-4D97-AF65-F5344CB8AC3E}">
        <p14:creationId xmlns:p14="http://schemas.microsoft.com/office/powerpoint/2010/main" val="13680136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8F3E59-5338-44A7-BC0A-56CECB9B2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4FB204-A377-4173-BA89-8AF1F0B5B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B46"/>
                </a:solidFill>
              </a:defRPr>
            </a:pPr>
            <a:r>
              <a:rPr sz="1500" b="1">
                <a:solidFill>
                  <a:srgbClr val="102B46"/>
                </a:solidFill>
              </a:rPr>
              <a:t>ABRADI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78A09A-6BA3-459E-9047-452A92772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9B4B"/>
                </a:solidFill>
              </a:defRPr>
            </a:pPr>
            <a:r>
              <a:rPr sz="975" b="1">
                <a:solidFill>
                  <a:srgbClr val="C79B4B"/>
                </a:solidFill>
              </a:rPr>
              <a:t>CASE STUDY / SMART SANITARY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D32368-F159-4A75-87B4-ED637BF7A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00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7788"/>
                </a:solidFill>
              </a:defRPr>
            </a:pPr>
            <a:r>
              <a:rPr sz="1050" b="1">
                <a:solidFill>
                  <a:srgbClr val="667788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485897-E3CA-44E2-BD83-56DA27DE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571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B46"/>
                </a:solidFill>
              </a:defRPr>
            </a:pPr>
            <a:r>
              <a:rPr sz="3150" b="1">
                <a:solidFill>
                  <a:srgbClr val="102B46"/>
                </a:solidFill>
              </a:rPr>
              <a:t>智能卫浴数字视觉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B29B4A-8438-47FC-9D0E-D0B409AF6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571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788"/>
                </a:solidFill>
              </a:defRPr>
            </a:pPr>
            <a:r>
              <a:rPr sz="1425" b="0">
                <a:solidFill>
                  <a:srgbClr val="667788"/>
                </a:solidFill>
              </a:rPr>
              <a:t>以产品、空间与动态光感，建立可感知的科技体验。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a25984c8b44513"/>
          <a:srcRect xmlns:a="http://schemas.openxmlformats.org/drawingml/2006/main" l="0" t="26608" r="0" b="266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3143250"/>
            <a:ext cx="10858500" cy="2857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31199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E623EB-B49A-432F-983F-E292DF80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9109D4-66C6-4ED1-9469-9D6F524E0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B46"/>
                </a:solidFill>
              </a:defRPr>
            </a:pPr>
            <a:r>
              <a:rPr sz="1500" b="1">
                <a:solidFill>
                  <a:srgbClr val="102B46"/>
                </a:solidFill>
              </a:rPr>
              <a:t>ABRADI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D1A23E-8DF4-4602-A64E-E2644B1C6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9B4B"/>
                </a:solidFill>
              </a:defRPr>
            </a:pPr>
            <a:r>
              <a:rPr sz="975" b="1">
                <a:solidFill>
                  <a:srgbClr val="C79B4B"/>
                </a:solidFill>
              </a:rPr>
              <a:t>CASE STUDY / RAIL TRANSIT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FCCEB4-2795-4BA9-BBA1-5E3390462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00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7788"/>
                </a:solidFill>
              </a:defRPr>
            </a:pPr>
            <a:r>
              <a:rPr sz="1050" b="1">
                <a:solidFill>
                  <a:srgbClr val="667788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FB520B-803F-4984-9F03-F45EEC5A5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571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B46"/>
                </a:solidFill>
              </a:defRPr>
            </a:pPr>
            <a:r>
              <a:rPr sz="3150" b="1">
                <a:solidFill>
                  <a:srgbClr val="102B46"/>
                </a:solidFill>
              </a:rPr>
              <a:t>轨道交通视觉项目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8E581E-041A-477D-91D6-0D1AE65B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571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788"/>
                </a:solidFill>
              </a:defRPr>
            </a:pPr>
            <a:r>
              <a:rPr sz="1425" b="0">
                <a:solidFill>
                  <a:srgbClr val="667788"/>
                </a:solidFill>
              </a:rPr>
              <a:t>以速度透视与工业结构，建立未来感的技术叙事。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4571ab8116475a"/>
          <a:srcRect xmlns:a="http://schemas.openxmlformats.org/drawingml/2006/main" l="0" t="26608" r="0" b="266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3143250"/>
            <a:ext cx="10858500" cy="2857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17464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765C3A-5690-47FE-A828-E18370064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27DACD-2EE5-4F1C-92B3-1C969E52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B46"/>
                </a:solidFill>
              </a:defRPr>
            </a:pPr>
            <a:r>
              <a:rPr sz="1500" b="1">
                <a:solidFill>
                  <a:srgbClr val="102B46"/>
                </a:solidFill>
              </a:rPr>
              <a:t>ABRADI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2DEDD5-E37B-4161-830A-A7EFF0858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9B4B"/>
                </a:solidFill>
              </a:defRPr>
            </a:pPr>
            <a:r>
              <a:rPr sz="975" b="1">
                <a:solidFill>
                  <a:srgbClr val="C79B4B"/>
                </a:solidFill>
              </a:rPr>
              <a:t>CASE STUDY / PRODUCT DETAIL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C97AF7-C190-4BE2-8996-19B0BA5B0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00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7788"/>
                </a:solidFill>
              </a:defRPr>
            </a:pPr>
            <a:r>
              <a:rPr sz="1050" b="1">
                <a:solidFill>
                  <a:srgbClr val="667788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21062E-8C73-4E38-9D60-02D875A7E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571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B46"/>
                </a:solidFill>
              </a:defRPr>
            </a:pPr>
            <a:r>
              <a:rPr sz="3150" b="1">
                <a:solidFill>
                  <a:srgbClr val="102B46"/>
                </a:solidFill>
              </a:rPr>
              <a:t>产品细节与材质表达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44E0C7-C916-4D0A-83B4-E047AEBC9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571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788"/>
                </a:solidFill>
              </a:defRPr>
            </a:pPr>
            <a:r>
              <a:rPr sz="1425" b="0">
                <a:solidFill>
                  <a:srgbClr val="667788"/>
                </a:solidFill>
              </a:rPr>
              <a:t>用比例、材质与光影，让专业能力成为可感知的品质。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c2b16c36494854"/>
          <a:srcRect xmlns:a="http://schemas.openxmlformats.org/drawingml/2006/main" l="0" t="26608" r="0" b="266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3143250"/>
            <a:ext cx="10858500" cy="2857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74533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02B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DA0D04-B2E2-429D-9DCA-9FB8B41A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524693-D290-49B4-AD3A-CA79A160F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ABRADI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E5E195-4B3B-42D5-A4B0-57F7C390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628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让每一次表达，</a:t>
            </a:r>
          </a:p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成为品牌被记住的理由。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923783-BDAB-47AB-9E22-C5320F475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CE5EC"/>
                </a:solidFill>
              </a:defRPr>
            </a:pPr>
            <a:r>
              <a:rPr sz="1500" b="1">
                <a:solidFill>
                  <a:srgbClr val="DCE5EC"/>
                </a:solidFill>
              </a:rPr>
              <a:t>上海阿布拉迪广告有限公司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1EE3DA-DBEB-4F06-8078-63B564060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FCBD5"/>
                </a:solidFill>
              </a:defRPr>
            </a:pPr>
            <a:r>
              <a:rPr sz="1050" b="1">
                <a:solidFill>
                  <a:srgbClr val="BFCBD5"/>
                </a:solidFill>
              </a:rPr>
              <a:t>电话  /  TEL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A5C51C-F994-45AB-855C-75FF06339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150 0183 4029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83C822-372D-43CB-86CB-986096DA8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386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FCBD5"/>
                </a:solidFill>
              </a:defRPr>
            </a:pPr>
            <a:r>
              <a:rPr sz="1050" b="1">
                <a:solidFill>
                  <a:srgbClr val="BFCBD5"/>
                </a:solidFill>
              </a:rPr>
              <a:t>邮箱  /  EMAIL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946A28-9DFB-4675-855A-1B83F6E5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529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abld@abuladi.cn</a:t>
            </a:r>
          </a:p>
        </p:txBody>
      </p:sp>
    </p:spTree>
    <p:extLst>
      <p:ext uri="{BB962C8B-B14F-4D97-AF65-F5344CB8AC3E}">
        <p14:creationId xmlns:p14="http://schemas.microsoft.com/office/powerpoint/2010/main" val="19026026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2026-07-16T03:39:05.8940000Z</dcterms:created>
  <dcterms:modified xsi:type="dcterms:W3CDTF">2026-07-16T03:39:05.8940000Z</dcterms:modified>
</coreProperties>
</file>