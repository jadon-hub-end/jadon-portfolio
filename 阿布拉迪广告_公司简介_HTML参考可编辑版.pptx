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b4002e2b3c4f2a" /><Relationship Type="http://schemas.openxmlformats.org/officeDocument/2006/relationships/extended-properties" Target="/docProps/app.xml" Id="Rb411e0082b24420a" /><Relationship Type="http://schemas.openxmlformats.org/officeDocument/2006/relationships/officeDocument" Target="/ppt/presentation.xml" Id="R656612bd9f6f49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c714854ef8496d"/>
  </p:sldMasterIdLst>
  <p:notesMasterIdLst>
    <p:notesMasterId xmlns:r="http://schemas.openxmlformats.org/officeDocument/2006/relationships" r:id="R8ccaef52e2ec4662"/>
  </p:notesMasterIdLst>
  <p:sldIdLst>
    <p:sldId xmlns:r="http://schemas.openxmlformats.org/officeDocument/2006/relationships" id="256" r:id="R062d88529c404d36"/>
    <p:sldId xmlns:r="http://schemas.openxmlformats.org/officeDocument/2006/relationships" id="257" r:id="R66baefab148f4e31"/>
    <p:sldId xmlns:r="http://schemas.openxmlformats.org/officeDocument/2006/relationships" id="258" r:id="Raaa1bf4be35d4042"/>
    <p:sldId xmlns:r="http://schemas.openxmlformats.org/officeDocument/2006/relationships" id="259" r:id="Ra8a7159f49b94cae"/>
    <p:sldId xmlns:r="http://schemas.openxmlformats.org/officeDocument/2006/relationships" id="260" r:id="Ra4307943c8fa4f24"/>
    <p:sldId xmlns:r="http://schemas.openxmlformats.org/officeDocument/2006/relationships" id="261" r:id="R79f0eebbd6644ee7"/>
    <p:sldId xmlns:r="http://schemas.openxmlformats.org/officeDocument/2006/relationships" id="262" r:id="R01cfe82e18bf460c"/>
    <p:sldId xmlns:r="http://schemas.openxmlformats.org/officeDocument/2006/relationships" id="263" r:id="R67cc50a21c484a07"/>
    <p:sldId xmlns:r="http://schemas.openxmlformats.org/officeDocument/2006/relationships" id="264" r:id="Rf67968321b574842"/>
    <p:sldId xmlns:r="http://schemas.openxmlformats.org/officeDocument/2006/relationships" id="265" r:id="R63e3a8f1d97e427b"/>
    <p:sldId xmlns:r="http://schemas.openxmlformats.org/officeDocument/2006/relationships" id="266" r:id="R6a28f060e85e44a2"/>
    <p:sldId xmlns:r="http://schemas.openxmlformats.org/officeDocument/2006/relationships" id="267" r:id="R9f5ea5d3e2e344e7"/>
    <p:sldId xmlns:r="http://schemas.openxmlformats.org/officeDocument/2006/relationships" id="268" r:id="R9c957de2ddd648c8"/>
    <p:sldId xmlns:r="http://schemas.openxmlformats.org/officeDocument/2006/relationships" id="269" r:id="R3c9da9729bd641ed"/>
    <p:sldId xmlns:r="http://schemas.openxmlformats.org/officeDocument/2006/relationships" id="270" r:id="R046dbd55419c4d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bbfd6649de464d" /><Relationship Type="http://schemas.openxmlformats.org/officeDocument/2006/relationships/slideMaster" Target="/ppt/slideMasters/slideMaster1.xml" Id="Rd3c714854ef8496d" /><Relationship Type="http://schemas.openxmlformats.org/officeDocument/2006/relationships/notesMaster" Target="/ppt/notesMasters/notesMaster1.xml" Id="R8ccaef52e2ec4662" /><Relationship Type="http://schemas.openxmlformats.org/officeDocument/2006/relationships/presProps" Target="/ppt/presProps.xml" Id="R69b7fd8f03d54958" /><Relationship Type="http://schemas.openxmlformats.org/officeDocument/2006/relationships/tableStyles" Target="/ppt/tableStyles.xml" Id="R5b38e2a2089f40cd" /><Relationship Type="http://schemas.openxmlformats.org/officeDocument/2006/relationships/slide" Target="/ppt/slides/slide1.xml" Id="R062d88529c404d36" /><Relationship Type="http://schemas.openxmlformats.org/officeDocument/2006/relationships/slide" Target="/ppt/slides/slide2.xml" Id="R66baefab148f4e31" /><Relationship Type="http://schemas.openxmlformats.org/officeDocument/2006/relationships/slide" Target="/ppt/slides/slide3.xml" Id="Raaa1bf4be35d4042" /><Relationship Type="http://schemas.openxmlformats.org/officeDocument/2006/relationships/slide" Target="/ppt/slides/slide4.xml" Id="Ra8a7159f49b94cae" /><Relationship Type="http://schemas.openxmlformats.org/officeDocument/2006/relationships/slide" Target="/ppt/slides/slide5.xml" Id="Ra4307943c8fa4f24" /><Relationship Type="http://schemas.openxmlformats.org/officeDocument/2006/relationships/slide" Target="/ppt/slides/slide6.xml" Id="R79f0eebbd6644ee7" /><Relationship Type="http://schemas.openxmlformats.org/officeDocument/2006/relationships/slide" Target="/ppt/slides/slide7.xml" Id="R01cfe82e18bf460c" /><Relationship Type="http://schemas.openxmlformats.org/officeDocument/2006/relationships/slide" Target="/ppt/slides/slide8.xml" Id="R67cc50a21c484a07" /><Relationship Type="http://schemas.openxmlformats.org/officeDocument/2006/relationships/slide" Target="/ppt/slides/slide9.xml" Id="Rf67968321b574842" /><Relationship Type="http://schemas.openxmlformats.org/officeDocument/2006/relationships/slide" Target="/ppt/slides/slide10.xml" Id="R63e3a8f1d97e427b" /><Relationship Type="http://schemas.openxmlformats.org/officeDocument/2006/relationships/slide" Target="/ppt/slides/slide11.xml" Id="R6a28f060e85e44a2" /><Relationship Type="http://schemas.openxmlformats.org/officeDocument/2006/relationships/slide" Target="/ppt/slides/slide12.xml" Id="R9f5ea5d3e2e344e7" /><Relationship Type="http://schemas.openxmlformats.org/officeDocument/2006/relationships/slide" Target="/ppt/slides/slide13.xml" Id="R9c957de2ddd648c8" /><Relationship Type="http://schemas.openxmlformats.org/officeDocument/2006/relationships/slide" Target="/ppt/slides/slide14.xml" Id="R3c9da9729bd641ed" /><Relationship Type="http://schemas.openxmlformats.org/officeDocument/2006/relationships/slide" Target="/ppt/slides/slide15.xml" Id="R046dbd55419c4d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da5cfaf3e44d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482f68a41546e0" /><Relationship Type="http://schemas.openxmlformats.org/officeDocument/2006/relationships/notesMaster" Target="/ppt/notesMasters/notesMaster1.xml" Id="Rdc5a065c43484d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e00e70920f4ab2" /><Relationship Type="http://schemas.openxmlformats.org/officeDocument/2006/relationships/notesMaster" Target="/ppt/notesMasters/notesMaster1.xml" Id="R1956007541a4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f92c5c6b541a9" /><Relationship Type="http://schemas.openxmlformats.org/officeDocument/2006/relationships/notesMaster" Target="/ppt/notesMasters/notesMaster1.xml" Id="R6d2de880e9b94e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d499449dbe4bde" /><Relationship Type="http://schemas.openxmlformats.org/officeDocument/2006/relationships/notesMaster" Target="/ppt/notesMasters/notesMaster1.xml" Id="Rff44455acad841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f7534388cf4b56" /><Relationship Type="http://schemas.openxmlformats.org/officeDocument/2006/relationships/notesMaster" Target="/ppt/notesMasters/notesMaster1.xml" Id="Rcc22ca145d384a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aae383563d4570" /><Relationship Type="http://schemas.openxmlformats.org/officeDocument/2006/relationships/notesMaster" Target="/ppt/notesMasters/notesMaster1.xml" Id="Raa50b8f9d07c49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274c2dd2084921" /><Relationship Type="http://schemas.openxmlformats.org/officeDocument/2006/relationships/notesMaster" Target="/ppt/notesMasters/notesMaster1.xml" Id="R6b700107378042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8ad4b186b149ea" /><Relationship Type="http://schemas.openxmlformats.org/officeDocument/2006/relationships/notesMaster" Target="/ppt/notesMasters/notesMaster1.xml" Id="Rbb86d3e465ac4b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e75ba5488143b7" /><Relationship Type="http://schemas.openxmlformats.org/officeDocument/2006/relationships/notesMaster" Target="/ppt/notesMasters/notesMaster1.xml" Id="Rada83a54e58a46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cf9bbbbac44c9b" /><Relationship Type="http://schemas.openxmlformats.org/officeDocument/2006/relationships/notesMaster" Target="/ppt/notesMasters/notesMaster1.xml" Id="Rab50bed1182d42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13c748c5904c13" /><Relationship Type="http://schemas.openxmlformats.org/officeDocument/2006/relationships/notesMaster" Target="/ppt/notesMasters/notesMaster1.xml" Id="R50572689c39d47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b25a03d5a945a8" /><Relationship Type="http://schemas.openxmlformats.org/officeDocument/2006/relationships/notesMaster" Target="/ppt/notesMasters/notesMaster1.xml" Id="Rf66d446d345d4d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47076136974b23" /><Relationship Type="http://schemas.openxmlformats.org/officeDocument/2006/relationships/notesMaster" Target="/ppt/notesMasters/notesMaster1.xml" Id="Ref2c010228c94a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77642584004349" /><Relationship Type="http://schemas.openxmlformats.org/officeDocument/2006/relationships/notesMaster" Target="/ppt/notesMasters/notesMaster1.xml" Id="Re38b83dc811248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8f04e0cbdd463d" /><Relationship Type="http://schemas.openxmlformats.org/officeDocument/2006/relationships/notesMaster" Target="/ppt/notesMasters/notesMaster1.xml" Id="R398b552771f04f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4cba005814f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b5821fe124a10" /><Relationship Type="http://schemas.openxmlformats.org/officeDocument/2006/relationships/slideLayout" Target="/ppt/slideLayouts/slideLayout1.xml" Id="Rb681254a031544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1254a031544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9ac370bb74a33" /><Relationship Type="http://schemas.openxmlformats.org/officeDocument/2006/relationships/image" Target="/ppt/media/image.jpeg" Id="R27bafd51fac94ef7" /><Relationship Type="http://schemas.openxmlformats.org/officeDocument/2006/relationships/notesSlide" Target="/ppt/notesSlides/notesSlide1.xml" Id="R20ec99ae887a44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ba7a50b1e4879" /><Relationship Type="http://schemas.openxmlformats.org/officeDocument/2006/relationships/image" Target="/ppt/media/image2.jpeg" Id="R56061126778849df" /><Relationship Type="http://schemas.openxmlformats.org/officeDocument/2006/relationships/notesSlide" Target="/ppt/notesSlides/notesSlide2.xml" Id="R365a2b54a94547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b607c718346ce" /><Relationship Type="http://schemas.openxmlformats.org/officeDocument/2006/relationships/image" Target="/ppt/media/image3.jpeg" Id="R36247dc279ef46ee" /><Relationship Type="http://schemas.openxmlformats.org/officeDocument/2006/relationships/image" Target="/ppt/media/image4.jpeg" Id="R7a189156911a403a" /><Relationship Type="http://schemas.openxmlformats.org/officeDocument/2006/relationships/notesSlide" Target="/ppt/notesSlides/notesSlide3.xml" Id="Rdfcbf0b4a4e541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cf7f50843429c" /><Relationship Type="http://schemas.openxmlformats.org/officeDocument/2006/relationships/notesSlide" Target="/ppt/notesSlides/notesSlide4.xml" Id="R699101ff1d8b41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6df33f1b54b49" /><Relationship Type="http://schemas.openxmlformats.org/officeDocument/2006/relationships/image" Target="/ppt/media/image5.jpeg" Id="Rc732328bfba94fbc" /><Relationship Type="http://schemas.openxmlformats.org/officeDocument/2006/relationships/image" Target="/ppt/media/image6.jpeg" Id="R9e6d8feeca4f4dd4" /><Relationship Type="http://schemas.openxmlformats.org/officeDocument/2006/relationships/image" Target="/ppt/media/image7.jpeg" Id="R77ea85e0cc7d40e6" /><Relationship Type="http://schemas.openxmlformats.org/officeDocument/2006/relationships/notesSlide" Target="/ppt/notesSlides/notesSlide5.xml" Id="R51e8cc02d19044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5e23175c7467a" /><Relationship Type="http://schemas.openxmlformats.org/officeDocument/2006/relationships/image" Target="/ppt/media/image8.jpeg" Id="R4728007c7c614494" /><Relationship Type="http://schemas.openxmlformats.org/officeDocument/2006/relationships/image" Target="/ppt/media/image9.jpeg" Id="R065e37bdc9644add" /><Relationship Type="http://schemas.openxmlformats.org/officeDocument/2006/relationships/image" Target="/ppt/media/image10.jpeg" Id="R191d538c351e46aa" /><Relationship Type="http://schemas.openxmlformats.org/officeDocument/2006/relationships/notesSlide" Target="/ppt/notesSlides/notesSlide6.xml" Id="Rc803242aa2254a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83e2b2b8a4a7e" /><Relationship Type="http://schemas.openxmlformats.org/officeDocument/2006/relationships/image" Target="/ppt/media/image11.jpeg" Id="Rc9761c4fdc724a1c" /><Relationship Type="http://schemas.openxmlformats.org/officeDocument/2006/relationships/image" Target="/ppt/media/image12.jpeg" Id="R6df37a99d3d741ac" /><Relationship Type="http://schemas.openxmlformats.org/officeDocument/2006/relationships/image" Target="/ppt/media/image13.jpeg" Id="R1a4e38bb11934562" /><Relationship Type="http://schemas.openxmlformats.org/officeDocument/2006/relationships/notesSlide" Target="/ppt/notesSlides/notesSlide7.xml" Id="R4af942510c414d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e973dc3d14855" /><Relationship Type="http://schemas.openxmlformats.org/officeDocument/2006/relationships/image" Target="/ppt/media/image14.jpeg" Id="Rfc19483cb05a4703" /><Relationship Type="http://schemas.openxmlformats.org/officeDocument/2006/relationships/image" Target="/ppt/media/image15.jpeg" Id="R987f8a170d3a434b" /><Relationship Type="http://schemas.openxmlformats.org/officeDocument/2006/relationships/image" Target="/ppt/media/image16.jpeg" Id="Rf2b03841243c4154" /><Relationship Type="http://schemas.openxmlformats.org/officeDocument/2006/relationships/image" Target="/ppt/media/image17.jpeg" Id="R77a000a9be5c4069" /><Relationship Type="http://schemas.openxmlformats.org/officeDocument/2006/relationships/notesSlide" Target="/ppt/notesSlides/notesSlide8.xml" Id="Rc6349435cb1549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e263d7d294156" /><Relationship Type="http://schemas.openxmlformats.org/officeDocument/2006/relationships/image" Target="/ppt/media/image18.jpeg" Id="Rf173691bc91347c1" /><Relationship Type="http://schemas.openxmlformats.org/officeDocument/2006/relationships/notesSlide" Target="/ppt/notesSlides/notesSlide9.xml" Id="Rf20a611ff8294f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6efec77dc4ab4" /><Relationship Type="http://schemas.openxmlformats.org/officeDocument/2006/relationships/image" Target="/ppt/media/image19.jpeg" Id="Rcc5a0abc370445a9" /><Relationship Type="http://schemas.openxmlformats.org/officeDocument/2006/relationships/notesSlide" Target="/ppt/notesSlides/notesSlide10.xml" Id="Rf426fae5736045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e54c9a1314c70" /><Relationship Type="http://schemas.openxmlformats.org/officeDocument/2006/relationships/image" Target="/ppt/media/image20.jpeg" Id="R5bdb387fe1c7445b" /><Relationship Type="http://schemas.openxmlformats.org/officeDocument/2006/relationships/image" Target="/ppt/media/image21.jpeg" Id="Rbeae499ab6db428b" /><Relationship Type="http://schemas.openxmlformats.org/officeDocument/2006/relationships/notesSlide" Target="/ppt/notesSlides/notesSlide11.xml" Id="Rf75baa3afd4345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80f4183fe4fa0" /><Relationship Type="http://schemas.openxmlformats.org/officeDocument/2006/relationships/image" Target="/ppt/media/image22.jpeg" Id="R3bd98f00a7884335" /><Relationship Type="http://schemas.openxmlformats.org/officeDocument/2006/relationships/image" Target="/ppt/media/image23.jpeg" Id="Rd3dff555b6e644f6" /><Relationship Type="http://schemas.openxmlformats.org/officeDocument/2006/relationships/notesSlide" Target="/ppt/notesSlides/notesSlide12.xml" Id="Rf925419e5ae04d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c2539b92f46e0" /><Relationship Type="http://schemas.openxmlformats.org/officeDocument/2006/relationships/image" Target="/ppt/media/image24.jpeg" Id="R0b144cf453034ab4" /><Relationship Type="http://schemas.openxmlformats.org/officeDocument/2006/relationships/image" Target="/ppt/media/image25.jpeg" Id="Rc99bd30586db4c75" /><Relationship Type="http://schemas.openxmlformats.org/officeDocument/2006/relationships/image" Target="/ppt/media/image26.jpeg" Id="R6ef7392d54284200" /><Relationship Type="http://schemas.openxmlformats.org/officeDocument/2006/relationships/notesSlide" Target="/ppt/notesSlides/notesSlide13.xml" Id="Refe9b8db56e748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152c08b8b499d" /><Relationship Type="http://schemas.openxmlformats.org/officeDocument/2006/relationships/notesSlide" Target="/ppt/notesSlides/notesSlide14.xml" Id="R154b4f0fc2454d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a6a73c46e449e" /><Relationship Type="http://schemas.openxmlformats.org/officeDocument/2006/relationships/image" Target="/ppt/media/image27.jpeg" Id="R158cb361fd724ad2" /><Relationship Type="http://schemas.openxmlformats.org/officeDocument/2006/relationships/notesSlide" Target="/ppt/notesSlides/notesSlide15.xml" Id="R5f3bc905fca047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afd51fac94e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B2C54-A8C4-4D94-B9E4-DA14A1D8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950" b="1">
                <a:solidFill>
                  <a:srgbClr val="202124"/>
                </a:solidFill>
              </a:defRPr>
            </a:pPr>
            <a:r>
              <a:rPr sz="4950" b="1">
                <a:solidFill>
                  <a:srgbClr val="202124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60616-FE3D-416E-8D9D-26DE815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F2EEE6"/>
                </a:solidFill>
              </a:defRPr>
            </a:pPr>
            <a:r>
              <a:rPr sz="4200" b="1">
                <a:solidFill>
                  <a:srgbClr val="F2EEE6"/>
                </a:solidFill>
              </a:rPr>
              <a:t>上海阿布拉迪广告有限公司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B0483-9401-4111-8A16-A96ED1F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C130E-96F6-46F6-B5D4-00AC8D54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9A45D"/>
                </a:solidFill>
              </a:defRPr>
            </a:pPr>
            <a:r>
              <a:rPr sz="1050" b="1">
                <a:solidFill>
                  <a:srgbClr val="C9A45D"/>
                </a:solidFill>
              </a:rPr>
              <a:t>SHANGHAI ABRADI ADVERTISING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DA8C7-D12C-4D6E-B539-459ECA5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291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2EEE6"/>
                </a:solidFill>
              </a:defRPr>
            </a:pPr>
            <a:r>
              <a:rPr sz="1725" b="1">
                <a:solidFill>
                  <a:srgbClr val="F2EEE6"/>
                </a:solidFill>
              </a:rPr>
              <a:t>让每一次表达，成为品牌被记住的理由。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46376-4E1E-49AA-A55D-504F6F40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STRATEGY  /  VISUAL  / 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ACBA3-2ACD-4EE8-B4BE-0CB92A13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COMPANY PROFILE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6AD5E-8EAA-47A9-8764-37E5F86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05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SHANGHAI</a:t>
            </a:r>
          </a:p>
        </p:txBody>
      </p:sp>
    </p:spTree>
    <p:extLst>
      <p:ext uri="{BB962C8B-B14F-4D97-AF65-F5344CB8AC3E}">
        <p14:creationId xmlns:p14="http://schemas.microsoft.com/office/powerpoint/2010/main" val="1213845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79D7D-4896-4034-9AA8-30F8C70B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CBF31-31A6-4935-AB84-A1F9C921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72558-8871-49B6-B731-01DE8DB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THE POINT OF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EB758-BFFE-40DA-8CEF-9B25D15A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2EEE6"/>
                </a:solidFill>
              </a:defRPr>
            </a:pPr>
            <a:r>
              <a:rPr sz="3600" b="1">
                <a:solidFill>
                  <a:srgbClr val="F2EEE6"/>
                </a:solidFill>
              </a:rPr>
              <a:t>好作品，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2EEE6"/>
                </a:solidFill>
              </a:defRPr>
            </a:pPr>
            <a:r>
              <a:rPr sz="3600" b="1">
                <a:solidFill>
                  <a:srgbClr val="F2EEE6"/>
                </a:solidFill>
              </a:rPr>
              <a:t>必须先有好判断。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24D4-785C-46F0-8C05-D482565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我们把策略变成画面，把画面变成感受，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再让感受留下可持续的品牌记忆。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61126778849df"/>
          <a:srcRect xmlns:a="http://schemas.openxmlformats.org/drawingml/2006/main" l="28239" t="0" r="28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762000"/>
            <a:ext cx="4038600" cy="5219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5485F-83FC-4F52-8D0E-67D57078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A45D"/>
                </a:solidFill>
              </a:defRPr>
            </a:pPr>
            <a:r>
              <a:rPr sz="1425" b="1">
                <a:solidFill>
                  <a:srgbClr val="C9A45D"/>
                </a:solidFill>
              </a:rPr>
              <a:t>FROM INTENT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9A45D"/>
                </a:solidFill>
              </a:defRPr>
            </a:pPr>
            <a:r>
              <a:rPr sz="1425" b="1">
                <a:solidFill>
                  <a:srgbClr val="C9A45D"/>
                </a:solidFill>
              </a:rPr>
              <a:t>TO IMPACT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4E516-8E89-41BA-86F3-73035475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2EEE6"/>
                </a:solidFill>
              </a:defRPr>
            </a:pPr>
            <a:r>
              <a:rPr sz="1275" b="1">
                <a:solidFill>
                  <a:srgbClr val="F2EEE6"/>
                </a:solidFill>
              </a:rPr>
              <a:t>不是装饰，而是品牌的感知系统。</a:t>
            </a:r>
          </a:p>
        </p:txBody>
      </p:sp>
    </p:spTree>
    <p:extLst>
      <p:ext uri="{BB962C8B-B14F-4D97-AF65-F5344CB8AC3E}">
        <p14:creationId xmlns:p14="http://schemas.microsoft.com/office/powerpoint/2010/main" val="2036388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BD3FB-2067-42EF-A0AB-D2601F2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3A2F8-2522-4815-9CDC-15245BAE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0DC1C-11B1-4FE8-A7F4-C5B1BD9B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OUR CREATIVE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5DA8E-42AD-4EEF-B02A-4CFBE98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一套创意中枢，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贯通从判断到落地。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6FDDC-6011-4C84-9364-CBCD8E68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5B37-AC92-432D-9809-BB13CA26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EF19D-0917-4C37-B018-2C24D71C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定位 / 洞察 / 创意方向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CF30C-6FF1-48D1-9378-0DB313C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3B473-7865-4275-8ED2-529DD406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0F77B-DD8A-4C2D-A6FE-F1429D4B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VISUAL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521FD-BD5C-4A70-92B0-E210B2D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3D / 动态 / AI 视觉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FB74F-B827-4A93-ABF3-23442750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9BF99-EEC2-43E7-A413-131B375A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BD058-163E-46FF-8414-D21F28C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65F9F-7C1F-43F0-8A7D-3985340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影像 / 后期 / 技术实现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5C7DD-178D-44E5-A65D-BE6EFAEF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AC70E-1CB8-4EA4-81F8-FD7E3F6B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2CECA-16EF-4B02-8342-3E90796C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76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D5076-82D3-4115-862A-353A61F4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传播适配 / 多端交付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C66C7-99B7-4D12-9031-A317A8BE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47dc279ef46ee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838200"/>
            <a:ext cx="4495800" cy="23431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89156911a403a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3543300"/>
            <a:ext cx="4495800" cy="2343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5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B7354-DE20-4445-9EF7-B8F5B08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D922-4EBB-41AC-9E16-920876A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45287-8225-421C-8D5B-18BF2708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2EEE6"/>
                </a:solidFill>
              </a:defRPr>
            </a:pPr>
            <a:r>
              <a:rPr sz="5100" b="1">
                <a:solidFill>
                  <a:srgbClr val="F2EEE6"/>
                </a:solidFill>
              </a:rPr>
              <a:t>WORK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2EEE6"/>
                </a:solidFill>
              </a:defRPr>
            </a:pPr>
            <a:r>
              <a:rPr sz="5100" b="1">
                <a:solidFill>
                  <a:srgbClr val="F2EEE6"/>
                </a:solidFill>
              </a:rPr>
              <a:t>WITH 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E4D00-CAD4-4C51-99DB-DCF36EF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EEE6"/>
                </a:solidFill>
              </a:defRPr>
            </a:pPr>
            <a:r>
              <a:rPr sz="2025" b="1">
                <a:solidFill>
                  <a:srgbClr val="F2EEE6"/>
                </a:solidFill>
              </a:rPr>
              <a:t>把复杂的品牌命题，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2EEE6"/>
                </a:solidFill>
              </a:defRPr>
            </a:pPr>
            <a:r>
              <a:rPr sz="2025" b="1">
                <a:solidFill>
                  <a:srgbClr val="F2EEE6"/>
                </a:solidFill>
              </a:rPr>
              <a:t>转化为一眼可懂的视觉表达。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6F8EA-66E3-43A2-8803-EBEB0B99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DB840-5C39-4FDA-AF47-F0D581A3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CAPABILITY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DB69-61BE-4EC1-8CFD-85F5774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883CC-EC4F-44E2-8618-0532C82C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品牌策略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672A7-A518-4D4C-8248-01A4A733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定位梳理 / 创意方向 / 视觉系统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AB6BD-0F9B-4B75-83F8-3242019B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CE39C-4768-4A01-9FEE-619CA689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66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4AF8E-B9B1-4611-A926-B0C152C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478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产品叙事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80A2E-89F8-45BF-B2ED-38B6A9E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产品价值 / 场景表达 / 材质细节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F6353-75D0-4EFF-9798-95A2CEF4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E5323-A9EC-4DCB-9BFB-D3EAE032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0BDAB-0B79-4A3D-914F-517E3D9C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数字视觉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EDA7A-6E8A-43AD-A58B-C0B9E337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三维动态 / 影像制作 / AI视觉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5D51A-3E1C-46D8-9F48-D7CFCCE9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742B1-37F3-448B-AB66-EBADF45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147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整合交付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D0285-EA20-4E8D-B618-BF3B87C3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多端适配 / 制作统筹 / 上线支持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99FBF-8DA1-4858-9EE7-54CB2240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0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从判断到落地，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我们让创意成为品牌长期资产。</a:t>
            </a:r>
          </a:p>
        </p:txBody>
      </p:sp>
    </p:spTree>
    <p:extLst>
      <p:ext uri="{BB962C8B-B14F-4D97-AF65-F5344CB8AC3E}">
        <p14:creationId xmlns:p14="http://schemas.microsoft.com/office/powerpoint/2010/main" val="1122939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BC895-7FB2-4678-AB23-F3531199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BD88F-E7C7-4E70-AA3A-5E8E81C2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D1F2D-131D-454C-8D25-5F50936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01 / SMART SANITARY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3C28E-7504-4FE6-AD06-AF78D6E3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科技的温度，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需要被看见。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52AB4-8466-4EFC-B4B1-6A838A18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以光感、材质与动态空间，重塑智能卫浴的感官体验。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2328bfba94fbc"/>
          <a:srcRect xmlns:a="http://schemas.openxmlformats.org/drawingml/2006/main" l="0" t="20803" r="0" b="20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762000"/>
            <a:ext cx="5219700" cy="17145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d8feeca4f4dd4"/>
          <a:srcRect xmlns:a="http://schemas.openxmlformats.org/drawingml/2006/main" l="29025" t="0" r="29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2647950"/>
            <a:ext cx="2514600" cy="3371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a85e0cc7d40e6"/>
          <a:srcRect xmlns:a="http://schemas.openxmlformats.org/drawingml/2006/main" l="29025" t="0" r="29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647950"/>
            <a:ext cx="2514600" cy="3371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713AB-5B1F-4444-ACD2-6682EB0C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TONA / DIGITAL PRODUCT VISUAL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EC840-6F53-4495-9199-8EE294C1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界面、产品、空间，在同一视觉秩序里发生。</a:t>
            </a:r>
          </a:p>
        </p:txBody>
      </p:sp>
    </p:spTree>
    <p:extLst>
      <p:ext uri="{BB962C8B-B14F-4D97-AF65-F5344CB8AC3E}">
        <p14:creationId xmlns:p14="http://schemas.microsoft.com/office/powerpoint/2010/main" val="1227309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A0704-F22D-4471-A84B-A933204D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484A6-FCDB-4F04-A46A-03B0A234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44D60-C1EF-436A-80C7-0EF50DA6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02 / SPACE &amp; LIFESTYLE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34ADA-9DC5-4D08-AEBD-8C81886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空间不是背景，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它是品牌的一部分。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71AA6-BC24-4F7E-9FF3-336F5837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让材质、光线与使用场景共同建立更具沉浸感的高级体验。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8007c7c614494"/>
          <a:srcRect xmlns:a="http://schemas.openxmlformats.org/drawingml/2006/main" l="1142" t="0" r="1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62000"/>
            <a:ext cx="5162550" cy="29718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e37bdc9644add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924300"/>
            <a:ext cx="2438400" cy="20574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d538c351e46aa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3924300"/>
            <a:ext cx="2438400" cy="2057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BFC07-4B65-453B-8638-83F53ADE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RESIDENTIAL / RETAIL / PRODUCT 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4C99-7B26-4199-B17F-C2EAE529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以场景制造想象，以细节建立信任。</a:t>
            </a:r>
          </a:p>
        </p:txBody>
      </p:sp>
    </p:spTree>
    <p:extLst>
      <p:ext uri="{BB962C8B-B14F-4D97-AF65-F5344CB8AC3E}">
        <p14:creationId xmlns:p14="http://schemas.microsoft.com/office/powerpoint/2010/main" val="891082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B178D-D08B-4862-8899-A69D69E5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ACF11-D6D5-4149-8683-E5E3A17D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E7D34-26EB-4231-8CF1-B00A0512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03 / PRODUCT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B1A1B-AE8D-4FC4-BDEE-6BEA4ED0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细节决定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产品的高级感。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A7FCC-A2E7-4B3C-B593-E755A474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用材质、结构与光影，把专业能力转化为可感知的品质。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61c4fdc724a1c"/>
          <a:srcRect xmlns:a="http://schemas.openxmlformats.org/drawingml/2006/main" l="20131" t="0" r="201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781050"/>
            <a:ext cx="2609850" cy="24574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37a99d3d741ac"/>
          <a:srcRect xmlns:a="http://schemas.openxmlformats.org/drawingml/2006/main" l="21439" t="0" r="214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781050"/>
            <a:ext cx="2495550" cy="24574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e38bb11934562"/>
          <a:srcRect xmlns:a="http://schemas.openxmlformats.org/drawingml/2006/main" l="0" t="7000" r="0" b="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3429000"/>
            <a:ext cx="5276850" cy="2552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D0B0E-4C52-4377-8ADB-04EAD73D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OBJECT / MATERIAL / LIGHT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6269A-F278-4621-AEF7-79DCA43E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从一个产品切面，建立完整的感知价值。</a:t>
            </a:r>
          </a:p>
        </p:txBody>
      </p:sp>
    </p:spTree>
    <p:extLst>
      <p:ext uri="{BB962C8B-B14F-4D97-AF65-F5344CB8AC3E}">
        <p14:creationId xmlns:p14="http://schemas.microsoft.com/office/powerpoint/2010/main" val="76999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8EF02-AB55-4D8B-8D6C-334759CB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A5919-E0C2-44B4-B5B4-F223259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83041-51F3-494E-9BE1-F8BBB810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2EEE6"/>
                </a:solidFill>
              </a:defRPr>
            </a:pPr>
            <a:r>
              <a:rPr sz="3900" b="1">
                <a:solidFill>
                  <a:srgbClr val="F2EEE6"/>
                </a:solidFill>
              </a:rPr>
              <a:t>SELECTED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2EEE6"/>
                </a:solidFill>
              </a:defRPr>
            </a:pPr>
            <a:r>
              <a:rPr sz="3900" b="1">
                <a:solidFill>
                  <a:srgbClr val="F2EEE6"/>
                </a:solidFill>
              </a:rPr>
              <a:t>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ACADD-FA39-4CFF-A4A9-27E116BB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8A39B"/>
                </a:solidFill>
              </a:defRPr>
            </a:pPr>
            <a:r>
              <a:rPr sz="1800" b="1">
                <a:solidFill>
                  <a:srgbClr val="A8A39B"/>
                </a:solidFill>
              </a:rPr>
              <a:t>跨品类的表达，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A8A39B"/>
                </a:solidFill>
              </a:defRPr>
            </a:pPr>
            <a:r>
              <a:rPr sz="1800" b="1">
                <a:solidFill>
                  <a:srgbClr val="A8A39B"/>
                </a:solidFill>
              </a:rPr>
              <a:t>共享同一套完成度。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746AA-D487-445D-AD4A-36868357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388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6DA8B-C6F4-4926-B969-B7B32EE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四种行业场景  /  一种视觉标准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059B3-DD96-4A21-BA6C-04E65EEA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空间体验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美妆健康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产品设计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家居美学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F26FB-774D-4A4C-B90C-7E63A9D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SPACE EXPERIENCE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BEAUTY VISUAL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PRODUCT SYSTEM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HOME AESTHETIC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54418-8D4A-4A49-87E5-1D04B054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429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B892E-188B-4D47-91AC-B58400B9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429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7C70B-8048-4FCD-8186-EC6CE179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CC449-19DC-4DA6-9134-38D13B6F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242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9483cb05a4703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857250"/>
            <a:ext cx="2343150" cy="17716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f8a170d3a434b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857250"/>
            <a:ext cx="2343150" cy="177165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03841243c4154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3638550"/>
            <a:ext cx="2343150" cy="17716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000a9be5c4069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3638550"/>
            <a:ext cx="2343150" cy="17716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F9675-2850-487B-81DF-64C4CF9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01  SPACE / TUBLER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BE7E4-DD85-47F4-B4D8-B8B69696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02  BEAUTY / MESTETIC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8131C-2328-4239-A110-E95A5861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62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03  WATER / KOHLER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AAB54-37B8-4B5E-9C67-AB0C1452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62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04  HOME / BRILLIANCE</a:t>
            </a:r>
          </a:p>
        </p:txBody>
      </p:sp>
    </p:spTree>
    <p:extLst>
      <p:ext uri="{BB962C8B-B14F-4D97-AF65-F5344CB8AC3E}">
        <p14:creationId xmlns:p14="http://schemas.microsoft.com/office/powerpoint/2010/main" val="983500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812230-A717-4820-B0B3-A1811E95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36F11-5765-4D38-B132-8EFEDD79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38066-C7B0-4A23-9F9C-E592C38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INDUSTRY REACH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3243B-482E-4EF1-8756-D56D35E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不同赛道，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同一个视觉标准。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B2EE8-8672-406E-BB04-E0BEF8FC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以品牌的真实场景为起点，让每一个品类拥有自己的表达方式。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63326-1A3F-430E-A2F4-602F3BB2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1FA68-4270-41D1-B32D-0189238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智能家居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4CDE0-134F-436C-AF1C-DB1EF9D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卫浴 / 厨电 / 空间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22775-A54E-4A5C-A5AF-C3E5B46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433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87C69-392C-4467-97BB-5BF3711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05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交通出行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AFCE8-7821-4F8E-B865-13BC4D7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48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轨交 / 汽车 / 工业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FD2AB-6310-4715-B0EE-266D8F9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139AA-A096-4DA5-8B9C-6009219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05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美妆健康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9EA72-8A4C-4C28-9083-09E0B2F5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48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护肤 / 医美 / 科技美容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3B324-49F7-4DF9-A846-F246E4F9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43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57F6E-AA06-4F40-BBAD-C79283B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05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消费科技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D34BC-D58D-4E2A-AA40-B92703FC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48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数码 / 硬件 / 新产品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3691bc91347c1"/>
          <a:srcRect xmlns:a="http://schemas.openxmlformats.org/drawingml/2006/main" l="24954" t="0" r="249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762000"/>
            <a:ext cx="4648200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93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18AAC2-DD01-446C-986A-04BE5471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FE906-1980-46BB-A534-5E57E9E0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F71E2-00BF-4AE2-9081-CB27A854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RESOURCE NETWORK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4984F-CF6B-4F0F-8CC4-414A0B04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429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用合适的人，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完成合适的表达。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02B8C-227D-402B-B80B-EB88A93C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由核心创意与项目团队统筹，按项目协同视觉、影像、三维、后期与技术资源。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B4FED-C709-4EAB-988D-797D97B0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EA9A4-E898-47E9-9F21-5766367F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CREATIVE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AAC32-7579-46B5-9A04-971835F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策略 / 概念 / 视觉方向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94615-CD4F-4F31-83FE-A6DDC3B9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65376-3B0D-46B3-BFD4-888862FA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57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VISUAL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7D71F-5B0E-4CB7-A190-F308386F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4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三维 / 动态 / AI 视觉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9C09D-6117-44B6-A058-69699F57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084DE-3892-4175-91B6-793D2011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0D086-1008-403C-BF64-877A279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导演 / 摄影 / 剪辑制作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BBD18-07B4-48A9-9BE8-D650682F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20959-AD1B-4EE7-A174-74D869B5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67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TECH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07D41-3C39-42DE-933F-05F5CD6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244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互动 / 屏幕 / 多端适配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a0abc370445a9"/>
          <a:srcRect xmlns:a="http://schemas.openxmlformats.org/drawingml/2006/main" l="26263" t="0" r="262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876300"/>
            <a:ext cx="40195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01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36EB5-E901-4CC8-8DFE-81A548E1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F36D7-0581-493F-AAD3-0C7135D8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7BBE4-BBCA-48F0-A505-A92E738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CASE STUDY / RAIL TRANSIT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E05F8-1D06-4B0F-9D06-9199133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23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让复杂技术，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拥有未来感的叙事。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AC8FA-331E-42CA-A01B-82743F2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以冷色光线、速度透视与工业结构，建立可感知的科技想象。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b387fe1c7445b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781050"/>
            <a:ext cx="5238750" cy="294322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e499ab6db428b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3914775"/>
            <a:ext cx="5238750" cy="29432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48EB9-58FB-4356-85FA-D7BB379B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TRANSPORT VISUAL / DIGITAL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43CA4-D206-4B62-9D94-8370AF64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为技术内容建立一条可进入、可记住的视觉路径。</a:t>
            </a:r>
          </a:p>
        </p:txBody>
      </p:sp>
    </p:spTree>
    <p:extLst>
      <p:ext uri="{BB962C8B-B14F-4D97-AF65-F5344CB8AC3E}">
        <p14:creationId xmlns:p14="http://schemas.microsoft.com/office/powerpoint/2010/main" val="528374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096B45-9651-4E06-80E7-46A5FD3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3B09F-2FA7-4D6D-9246-65EFBCEB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E76DC-3B2F-47E7-ABD9-473F926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CASE STUDY / BEAUTY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51E16-0411-461C-A79F-35B57163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把功效，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变成一种质感。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5CDD2-C1D9-453C-9C25-1489BAF4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从成分想象到产品氛围，以光影、色彩与材质构建品牌的专业感。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98f00a7884335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781050"/>
            <a:ext cx="5200650" cy="292417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ff555b6e644f6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895725"/>
            <a:ext cx="5200650" cy="29241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C4DE2-0BAB-4E70-966C-2C3E437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BEAUTY / HEALTH / SCIENTIFIC AESTHETICS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7E2E2-0E44-4C65-BFFA-58159A6B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在克制与想象之间，建立可信又有感染力的美学。</a:t>
            </a:r>
          </a:p>
        </p:txBody>
      </p:sp>
    </p:spTree>
    <p:extLst>
      <p:ext uri="{BB962C8B-B14F-4D97-AF65-F5344CB8AC3E}">
        <p14:creationId xmlns:p14="http://schemas.microsoft.com/office/powerpoint/2010/main" val="1687240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7E587-9284-48A8-AC22-717284A8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97831-C732-4216-8F9E-24F843DB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EDFB7-25CB-4F33-8EC7-DD6B463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CASE STUDY / OBJECT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1F66F-8548-46EA-A29C-86855198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从一个产品，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到一套品牌感知。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B98EC-CFFC-446A-A88A-C25CAA54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让比例、材质和局部细节承载产品价值，而不是被信息淹没。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44cf453034ab4"/>
          <a:srcRect xmlns:a="http://schemas.openxmlformats.org/drawingml/2006/main" l="0" t="23269" r="0" b="23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781050"/>
            <a:ext cx="5257800" cy="15811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bd30586db4c75"/>
          <a:srcRect xmlns:a="http://schemas.openxmlformats.org/drawingml/2006/main" l="29489" t="0" r="294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533650"/>
            <a:ext cx="2514600" cy="34480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7392d54284200"/>
          <a:srcRect xmlns:a="http://schemas.openxmlformats.org/drawingml/2006/main" l="29489" t="0" r="294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533650"/>
            <a:ext cx="2514600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19170-F18F-48AA-B462-68DA0B0E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PRODUCT STORYTELLING / MATERIAL DETAIL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3E77F-3016-4474-A65E-CFBA62D7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把功能转译成品牌的审美语言。</a:t>
            </a:r>
          </a:p>
        </p:txBody>
      </p:sp>
    </p:spTree>
    <p:extLst>
      <p:ext uri="{BB962C8B-B14F-4D97-AF65-F5344CB8AC3E}">
        <p14:creationId xmlns:p14="http://schemas.microsoft.com/office/powerpoint/2010/main" val="8918419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01337-71BD-46D3-8DED-8BB34A7E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BBAA4-BD3C-40C0-A862-498F96D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3641A-0959-4BDD-A537-9DB6AD40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WORKING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7FFFD-8A51-4FB5-9F72-EBA8D35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71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让好创意，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有一条清晰的落地路径。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36504-D535-47B9-A5CB-789822FA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940CA-51FC-4B1B-8E8D-8FBC1BC7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DEFINE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19989-ECB9-472E-83C1-F7FA4DC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目标、受众、场景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0D0DE-2961-4D0B-8838-06818B97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52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A45D"/>
                </a:solidFill>
              </a:defRPr>
            </a:pPr>
            <a:r>
              <a:rPr sz="1650" b="1">
                <a:solidFill>
                  <a:srgbClr val="C9A45D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79915-913B-419A-A1C8-0F08F949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66909-61C4-4657-9E27-055DC4E7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F7C0C-A133-44D3-8208-AC7D0E1E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策略、概念、风格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82C4A-C1A0-4BE9-B32F-EDDE7448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52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A45D"/>
                </a:solidFill>
              </a:defRPr>
            </a:pPr>
            <a:r>
              <a:rPr sz="1650" b="1">
                <a:solidFill>
                  <a:srgbClr val="C9A45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6690A-857B-42C8-8B5C-C9EC360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545EB-766E-434A-B163-8EC21B3B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MAKE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B7EEE-6E8F-4075-AC26-6E229F7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制作、打磨、把控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4AF8D-2B4E-4E90-A3C9-1A394C17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A45D"/>
                </a:solidFill>
              </a:defRPr>
            </a:pPr>
            <a:r>
              <a:rPr sz="1650" b="1">
                <a:solidFill>
                  <a:srgbClr val="C9A45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06E4E-EBE1-4155-96A3-F4E6C43B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C4B31-2076-4674-9FFB-C6237ED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DEPLOY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9831D-BE74-4B0A-976D-70C423D7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交付、适配、上线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82AB2-83C3-42A2-B7EB-5F553DB3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84860-418D-4E67-AF42-154233AE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EEE6"/>
                </a:solidFill>
              </a:defRPr>
            </a:pPr>
            <a:r>
              <a:rPr sz="1425" b="1">
                <a:solidFill>
                  <a:srgbClr val="F2EEE6"/>
                </a:solidFill>
              </a:rPr>
              <a:t>全程由项目负责人统筹，关键节点确认，让创意、制作与交付保持同一节奏。</a:t>
            </a:r>
          </a:p>
        </p:txBody>
      </p:sp>
    </p:spTree>
    <p:extLst>
      <p:ext uri="{BB962C8B-B14F-4D97-AF65-F5344CB8AC3E}">
        <p14:creationId xmlns:p14="http://schemas.microsoft.com/office/powerpoint/2010/main" val="16256533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8A18A-7A89-4B69-AC31-17A118E8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98CE5-9BE2-4755-B5F3-DE0133B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cb361fd724ad2"/>
          <a:srcRect xmlns:a="http://schemas.openxmlformats.org/drawingml/2006/main" l="27109" t="0" r="271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0"/>
            <a:ext cx="55816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18683-8FA8-4AE6-9B45-00346DFC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667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2EEE6"/>
                </a:solidFill>
              </a:defRPr>
            </a:pPr>
            <a:r>
              <a:rPr sz="3675" b="1">
                <a:solidFill>
                  <a:srgbClr val="F2EEE6"/>
                </a:solidFill>
              </a:rPr>
              <a:t>把下一次表达，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F2EEE6"/>
                </a:solidFill>
              </a:defRPr>
            </a:pPr>
            <a:r>
              <a:rPr sz="3675" b="1">
                <a:solidFill>
                  <a:srgbClr val="F2EEE6"/>
                </a:solidFill>
              </a:rPr>
              <a:t>做成下一次记住。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9C3B3-72B7-4C5B-B819-9F8DE317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84F8A-004A-4B35-A706-73FDD837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9A45D"/>
                </a:solidFill>
              </a:defRPr>
            </a:pPr>
            <a:r>
              <a:rPr sz="1350" b="1">
                <a:solidFill>
                  <a:srgbClr val="C9A45D"/>
                </a:solidFill>
              </a:rPr>
              <a:t>上海阿布拉迪广告有限公司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075FC-C2E0-404D-9237-428EB1E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9A45D"/>
                </a:solidFill>
              </a:defRPr>
            </a:pPr>
            <a:r>
              <a:rPr sz="825" b="1">
                <a:solidFill>
                  <a:srgbClr val="C9A45D"/>
                </a:solidFill>
              </a:rPr>
              <a:t>电话  /  TEL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7640C-6526-41D0-B392-3714B3E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A39B"/>
                </a:solidFill>
              </a:defRPr>
            </a:pPr>
            <a:r>
              <a:rPr sz="1350" b="0">
                <a:solidFill>
                  <a:srgbClr val="A8A39B"/>
                </a:solidFill>
              </a:rPr>
              <a:t>150 0183 4029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81150-0143-4DD7-844A-EE4AFF2D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9A45D"/>
                </a:solidFill>
              </a:defRPr>
            </a:pPr>
            <a:r>
              <a:rPr sz="825" b="1">
                <a:solidFill>
                  <a:srgbClr val="C9A45D"/>
                </a:solidFill>
              </a:rPr>
              <a:t>邮箱  /  EMAIL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21581-8565-4671-9597-71EDA11B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A39B"/>
                </a:solidFill>
              </a:defRPr>
            </a:pPr>
            <a:r>
              <a:rPr sz="1350" b="0">
                <a:solidFill>
                  <a:srgbClr val="A8A39B"/>
                </a:solidFill>
              </a:rPr>
              <a:t>abld@abuladi.cn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DC284-333C-41A4-BFFC-40B80CA7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3295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B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535D2-4072-4AE8-BBC8-270A64AF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E0D87-1B82-4EAE-B40C-85611538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576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8A39B"/>
                </a:solidFill>
              </a:defRPr>
            </a:pPr>
            <a:r>
              <a:rPr sz="750" b="1">
                <a:solidFill>
                  <a:srgbClr val="A8A39B"/>
                </a:solidFill>
              </a:rPr>
              <a:t>ABRADI / VISUAL CREATIVE PARTNER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E7794-5231-4EE3-901F-378C9D61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71925"/>
            <a:ext cx="2476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MAKE THE NEXT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IMPRESSION LAST.</a:t>
            </a:r>
          </a:p>
        </p:txBody>
      </p:sp>
    </p:spTree>
    <p:extLst>
      <p:ext uri="{BB962C8B-B14F-4D97-AF65-F5344CB8AC3E}">
        <p14:creationId xmlns:p14="http://schemas.microsoft.com/office/powerpoint/2010/main" val="255998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2026-07-16T03:13:39.6220000Z</dcterms:created>
  <dcterms:modified xsi:type="dcterms:W3CDTF">2026-07-16T03:13:39.6220000Z</dcterms:modified>
</coreProperties>
</file>